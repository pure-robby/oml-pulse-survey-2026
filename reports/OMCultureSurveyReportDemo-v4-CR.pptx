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Lst>
  <p:notesMasterIdLst>
    <p:notesMasterId r:id="rId11"/>
  </p:notesMasterIdLst>
  <p:sldIdLst>
    <p:sldId id="404" r:id="rId3"/>
    <p:sldId id="405" r:id="rId4"/>
    <p:sldId id="406" r:id="rId5"/>
    <p:sldId id="2147376049" r:id="rId6"/>
    <p:sldId id="2147376048" r:id="rId7"/>
    <p:sldId id="2147376051" r:id="rId8"/>
    <p:sldId id="2147376052" r:id="rId9"/>
    <p:sldId id="2147376053" r:id="rId10"/>
  </p:sldIdLst>
  <p:sldSz cx="13411200" cy="7543800"/>
  <p:notesSz cx="7543800" cy="10687050"/>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0080"/>
    <a:srgbClr val="F37021"/>
    <a:srgbClr val="009677"/>
    <a:srgbClr val="A7A9AC"/>
    <a:srgbClr val="282828"/>
    <a:srgbClr val="121328"/>
    <a:srgbClr val="58595B"/>
    <a:srgbClr val="FFDE75"/>
    <a:srgbClr val="00C0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96" y="32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2025</c:v>
                </c:pt>
              </c:strCache>
            </c:strRef>
          </c:tx>
          <c:spPr>
            <a:solidFill>
              <a:srgbClr val="009677"/>
            </a:solidFill>
            <a:ln>
              <a:noFill/>
            </a:ln>
            <a:effectLst/>
          </c:spPr>
          <c:invertIfNegative val="0"/>
          <c:dPt>
            <c:idx val="0"/>
            <c:invertIfNegative val="0"/>
            <c:bubble3D val="0"/>
            <c:spPr>
              <a:solidFill>
                <a:srgbClr val="ED0080"/>
              </a:solidFill>
              <a:ln>
                <a:noFill/>
              </a:ln>
              <a:effectLst/>
            </c:spPr>
            <c:extLst>
              <c:ext xmlns:c16="http://schemas.microsoft.com/office/drawing/2014/chart" uri="{C3380CC4-5D6E-409C-BE32-E72D297353CC}">
                <c16:uniqueId val="{00000003-0550-4F19-8D4B-E3670F3EE96A}"/>
              </c:ext>
            </c:extLst>
          </c:dPt>
          <c:cat>
            <c:strRef>
              <c:f>Sheet1!$A$2</c:f>
              <c:strCache>
                <c:ptCount val="1"/>
                <c:pt idx="0">
                  <c:v>Change Readiness</c:v>
                </c:pt>
              </c:strCache>
            </c:strRef>
          </c:cat>
          <c:val>
            <c:numRef>
              <c:f>Sheet1!$B$2</c:f>
              <c:numCache>
                <c:formatCode>General</c:formatCode>
                <c:ptCount val="1"/>
                <c:pt idx="0">
                  <c:v>4.29</c:v>
                </c:pt>
              </c:numCache>
            </c:numRef>
          </c:val>
          <c:extLst>
            <c:ext xmlns:c16="http://schemas.microsoft.com/office/drawing/2014/chart" uri="{C3380CC4-5D6E-409C-BE32-E72D297353CC}">
              <c16:uniqueId val="{00000000-0550-4F19-8D4B-E3670F3EE96A}"/>
            </c:ext>
          </c:extLst>
        </c:ser>
        <c:dLbls>
          <c:showLegendKey val="0"/>
          <c:showVal val="0"/>
          <c:showCatName val="0"/>
          <c:showSerName val="0"/>
          <c:showPercent val="0"/>
          <c:showBubbleSize val="0"/>
        </c:dLbls>
        <c:gapWidth val="219"/>
        <c:overlap val="-27"/>
        <c:axId val="1075083503"/>
        <c:axId val="1285979887"/>
      </c:barChart>
      <c:catAx>
        <c:axId val="107508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285979887"/>
        <c:crosses val="autoZero"/>
        <c:auto val="1"/>
        <c:lblAlgn val="ctr"/>
        <c:lblOffset val="100"/>
        <c:noMultiLvlLbl val="0"/>
      </c:catAx>
      <c:valAx>
        <c:axId val="1285979887"/>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075083503"/>
        <c:crosses val="autoZero"/>
        <c:crossBetween val="between"/>
        <c:majorUnit val="1"/>
        <c:min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2022 Q2</c:v>
                </c:pt>
              </c:strCache>
            </c:strRef>
          </c:tx>
          <c:spPr>
            <a:solidFill>
              <a:srgbClr val="009677"/>
            </a:solidFill>
            <a:ln>
              <a:noFill/>
            </a:ln>
            <a:effectLst/>
          </c:spPr>
          <c:invertIfNegative val="0"/>
          <c:cat>
            <c:strRef>
              <c:f>Sheet1!$A$2:$A$7</c:f>
              <c:strCache>
                <c:ptCount val="6"/>
                <c:pt idx="0">
                  <c:v>I have heard about the Old Mutual Group Operating model changes, which includes the establishment of channel-led, end-to-end business clusters, such as the Life and Savings Cluster.</c:v>
                </c:pt>
                <c:pt idx="1">
                  <c:v>I am aware of the basic scope of what is changing.</c:v>
                </c:pt>
                <c:pt idx="2">
                  <c:v>I understand why the change is occurring and how it is aligned to the broader Old Mutual goals.</c:v>
                </c:pt>
                <c:pt idx="3">
                  <c:v>I understand the impacts of the change to the organisation and to my functional area.</c:v>
                </c:pt>
                <c:pt idx="4">
                  <c:v>I believe that the change is the right thing to do, and I am motivated to support the change.</c:v>
                </c:pt>
                <c:pt idx="5">
                  <c:v>I understand the impacts and benefits of the change for me.</c:v>
                </c:pt>
              </c:strCache>
            </c:strRef>
          </c:cat>
          <c:val>
            <c:numRef>
              <c:f>Sheet1!$B$2:$B$7</c:f>
              <c:numCache>
                <c:formatCode>General</c:formatCode>
                <c:ptCount val="6"/>
                <c:pt idx="0">
                  <c:v>4.3</c:v>
                </c:pt>
                <c:pt idx="1">
                  <c:v>2.5</c:v>
                </c:pt>
                <c:pt idx="2">
                  <c:v>3.5</c:v>
                </c:pt>
                <c:pt idx="3">
                  <c:v>4.5</c:v>
                </c:pt>
                <c:pt idx="4">
                  <c:v>4.91</c:v>
                </c:pt>
                <c:pt idx="5">
                  <c:v>4.1100000000000003</c:v>
                </c:pt>
              </c:numCache>
            </c:numRef>
          </c:val>
          <c:extLst>
            <c:ext xmlns:c16="http://schemas.microsoft.com/office/drawing/2014/chart" uri="{C3380CC4-5D6E-409C-BE32-E72D297353CC}">
              <c16:uniqueId val="{00000000-DAC1-49FF-9D84-1B1EE55A7F8B}"/>
            </c:ext>
          </c:extLst>
        </c:ser>
        <c:ser>
          <c:idx val="1"/>
          <c:order val="1"/>
          <c:tx>
            <c:strRef>
              <c:f>Sheet1!$C$1</c:f>
              <c:strCache>
                <c:ptCount val="1"/>
                <c:pt idx="0">
                  <c:v>2023 Q2</c:v>
                </c:pt>
              </c:strCache>
            </c:strRef>
          </c:tx>
          <c:spPr>
            <a:solidFill>
              <a:srgbClr val="92D050"/>
            </a:solidFill>
            <a:ln>
              <a:noFill/>
            </a:ln>
            <a:effectLst/>
          </c:spPr>
          <c:invertIfNegative val="0"/>
          <c:cat>
            <c:strRef>
              <c:f>Sheet1!$A$2:$A$7</c:f>
              <c:strCache>
                <c:ptCount val="6"/>
                <c:pt idx="0">
                  <c:v>I have heard about the Old Mutual Group Operating model changes, which includes the establishment of channel-led, end-to-end business clusters, such as the Life and Savings Cluster.</c:v>
                </c:pt>
                <c:pt idx="1">
                  <c:v>I am aware of the basic scope of what is changing.</c:v>
                </c:pt>
                <c:pt idx="2">
                  <c:v>I understand why the change is occurring and how it is aligned to the broader Old Mutual goals.</c:v>
                </c:pt>
                <c:pt idx="3">
                  <c:v>I understand the impacts of the change to the organisation and to my functional area.</c:v>
                </c:pt>
                <c:pt idx="4">
                  <c:v>I believe that the change is the right thing to do, and I am motivated to support the change.</c:v>
                </c:pt>
                <c:pt idx="5">
                  <c:v>I understand the impacts and benefits of the change for me.</c:v>
                </c:pt>
              </c:strCache>
            </c:strRef>
          </c:cat>
          <c:val>
            <c:numRef>
              <c:f>Sheet1!$C$2:$C$7</c:f>
              <c:numCache>
                <c:formatCode>General</c:formatCode>
                <c:ptCount val="6"/>
                <c:pt idx="0">
                  <c:v>4.4000000000000004</c:v>
                </c:pt>
                <c:pt idx="1">
                  <c:v>4.4000000000000004</c:v>
                </c:pt>
                <c:pt idx="2">
                  <c:v>3.8</c:v>
                </c:pt>
                <c:pt idx="3">
                  <c:v>4.8</c:v>
                </c:pt>
                <c:pt idx="4">
                  <c:v>4.84</c:v>
                </c:pt>
                <c:pt idx="5">
                  <c:v>4.05</c:v>
                </c:pt>
              </c:numCache>
            </c:numRef>
          </c:val>
          <c:extLst>
            <c:ext xmlns:c16="http://schemas.microsoft.com/office/drawing/2014/chart" uri="{C3380CC4-5D6E-409C-BE32-E72D297353CC}">
              <c16:uniqueId val="{00000001-DAC1-49FF-9D84-1B1EE55A7F8B}"/>
            </c:ext>
          </c:extLst>
        </c:ser>
        <c:ser>
          <c:idx val="2"/>
          <c:order val="2"/>
          <c:tx>
            <c:strRef>
              <c:f>Sheet1!$D$1</c:f>
              <c:strCache>
                <c:ptCount val="1"/>
                <c:pt idx="0">
                  <c:v>2024 Q2</c:v>
                </c:pt>
              </c:strCache>
            </c:strRef>
          </c:tx>
          <c:spPr>
            <a:solidFill>
              <a:srgbClr val="FFFF00"/>
            </a:solidFill>
            <a:ln>
              <a:noFill/>
            </a:ln>
            <a:effectLst/>
          </c:spPr>
          <c:invertIfNegative val="0"/>
          <c:cat>
            <c:strRef>
              <c:f>Sheet1!$A$2:$A$7</c:f>
              <c:strCache>
                <c:ptCount val="6"/>
                <c:pt idx="0">
                  <c:v>I have heard about the Old Mutual Group Operating model changes, which includes the establishment of channel-led, end-to-end business clusters, such as the Life and Savings Cluster.</c:v>
                </c:pt>
                <c:pt idx="1">
                  <c:v>I am aware of the basic scope of what is changing.</c:v>
                </c:pt>
                <c:pt idx="2">
                  <c:v>I understand why the change is occurring and how it is aligned to the broader Old Mutual goals.</c:v>
                </c:pt>
                <c:pt idx="3">
                  <c:v>I understand the impacts of the change to the organisation and to my functional area.</c:v>
                </c:pt>
                <c:pt idx="4">
                  <c:v>I believe that the change is the right thing to do, and I am motivated to support the change.</c:v>
                </c:pt>
                <c:pt idx="5">
                  <c:v>I understand the impacts and benefits of the change for me.</c:v>
                </c:pt>
              </c:strCache>
            </c:strRef>
          </c:cat>
          <c:val>
            <c:numRef>
              <c:f>Sheet1!$D$2:$D$7</c:f>
              <c:numCache>
                <c:formatCode>General</c:formatCode>
                <c:ptCount val="6"/>
                <c:pt idx="0">
                  <c:v>4.5199999999999996</c:v>
                </c:pt>
                <c:pt idx="1">
                  <c:v>4.24</c:v>
                </c:pt>
                <c:pt idx="2">
                  <c:v>3.75</c:v>
                </c:pt>
                <c:pt idx="3">
                  <c:v>4.5</c:v>
                </c:pt>
                <c:pt idx="4">
                  <c:v>4.5</c:v>
                </c:pt>
                <c:pt idx="5">
                  <c:v>4.18</c:v>
                </c:pt>
              </c:numCache>
            </c:numRef>
          </c:val>
          <c:extLst>
            <c:ext xmlns:c16="http://schemas.microsoft.com/office/drawing/2014/chart" uri="{C3380CC4-5D6E-409C-BE32-E72D297353CC}">
              <c16:uniqueId val="{00000002-DAC1-49FF-9D84-1B1EE55A7F8B}"/>
            </c:ext>
          </c:extLst>
        </c:ser>
        <c:dLbls>
          <c:showLegendKey val="0"/>
          <c:showVal val="0"/>
          <c:showCatName val="0"/>
          <c:showSerName val="0"/>
          <c:showPercent val="0"/>
          <c:showBubbleSize val="0"/>
        </c:dLbls>
        <c:gapWidth val="219"/>
        <c:overlap val="-27"/>
        <c:axId val="1075083503"/>
        <c:axId val="1285979887"/>
      </c:barChart>
      <c:catAx>
        <c:axId val="107508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285979887"/>
        <c:crosses val="autoZero"/>
        <c:auto val="1"/>
        <c:lblAlgn val="ctr"/>
        <c:lblOffset val="100"/>
        <c:noMultiLvlLbl val="0"/>
      </c:catAx>
      <c:valAx>
        <c:axId val="1285979887"/>
        <c:scaling>
          <c:orientation val="minMax"/>
          <c:max val="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075083503"/>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68663" cy="5349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4273550" y="0"/>
            <a:ext cx="3268663" cy="534988"/>
          </a:xfrm>
          <a:prstGeom prst="rect">
            <a:avLst/>
          </a:prstGeom>
        </p:spPr>
        <p:txBody>
          <a:bodyPr vert="horz" lIns="91440" tIns="45720" rIns="91440" bIns="45720" rtlCol="0"/>
          <a:lstStyle>
            <a:lvl1pPr algn="r">
              <a:defRPr sz="1200"/>
            </a:lvl1pPr>
          </a:lstStyle>
          <a:p>
            <a:fld id="{2E1506D9-2A4D-45A2-9E58-E415A031CC7F}" type="datetimeFigureOut">
              <a:rPr lang="en-ZA" smtClean="0"/>
              <a:t>2025/07/09</a:t>
            </a:fld>
            <a:endParaRPr lang="en-ZA"/>
          </a:p>
        </p:txBody>
      </p:sp>
      <p:sp>
        <p:nvSpPr>
          <p:cNvPr id="4" name="Slide Image Placeholder 3"/>
          <p:cNvSpPr>
            <a:spLocks noGrp="1" noRot="1" noChangeAspect="1"/>
          </p:cNvSpPr>
          <p:nvPr>
            <p:ph type="sldImg" idx="2"/>
          </p:nvPr>
        </p:nvSpPr>
        <p:spPr>
          <a:xfrm>
            <a:off x="566738" y="1336675"/>
            <a:ext cx="6410325" cy="36068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754063" y="5143500"/>
            <a:ext cx="6035675" cy="4208463"/>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10152063"/>
            <a:ext cx="3268663" cy="5349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4273550" y="10152063"/>
            <a:ext cx="3268663" cy="534987"/>
          </a:xfrm>
          <a:prstGeom prst="rect">
            <a:avLst/>
          </a:prstGeom>
        </p:spPr>
        <p:txBody>
          <a:bodyPr vert="horz" lIns="91440" tIns="45720" rIns="91440" bIns="45720" rtlCol="0" anchor="b"/>
          <a:lstStyle>
            <a:lvl1pPr algn="r">
              <a:defRPr sz="1200"/>
            </a:lvl1pPr>
          </a:lstStyle>
          <a:p>
            <a:fld id="{59929256-6A05-4C7A-BCB0-6B6190405F5E}" type="slidenum">
              <a:rPr lang="en-ZA" smtClean="0"/>
              <a:t>‹#›</a:t>
            </a:fld>
            <a:endParaRPr lang="en-ZA"/>
          </a:p>
        </p:txBody>
      </p:sp>
    </p:spTree>
    <p:extLst>
      <p:ext uri="{BB962C8B-B14F-4D97-AF65-F5344CB8AC3E}">
        <p14:creationId xmlns:p14="http://schemas.microsoft.com/office/powerpoint/2010/main" val="282676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310CA-001D-4060-9A05-D8378B85F79A}"/>
              </a:ext>
            </a:extLst>
          </p:cNvPr>
          <p:cNvSpPr>
            <a:spLocks noGrp="1"/>
          </p:cNvSpPr>
          <p:nvPr>
            <p:ph type="title"/>
          </p:nvPr>
        </p:nvSpPr>
        <p:spPr>
          <a:xfrm>
            <a:off x="1409700" y="319587"/>
            <a:ext cx="9802159" cy="510405"/>
          </a:xfrm>
          <a:prstGeom prst="rect">
            <a:avLst/>
          </a:prstGeom>
        </p:spPr>
        <p:txBody>
          <a:bodyPr/>
          <a:lstStyle>
            <a:lvl1pPr>
              <a:defRPr sz="2800">
                <a:latin typeface="Century Gothic" panose="020B0502020202020204" pitchFamily="34" charset="0"/>
              </a:defRPr>
            </a:lvl1pPr>
          </a:lstStyle>
          <a:p>
            <a:r>
              <a:rPr lang="en-US" dirty="0"/>
              <a:t>Click to edit Master title style</a:t>
            </a:r>
            <a:endParaRPr lang="en-ZA" dirty="0"/>
          </a:p>
        </p:txBody>
      </p:sp>
      <p:cxnSp>
        <p:nvCxnSpPr>
          <p:cNvPr id="6" name="Straight Connector 5">
            <a:extLst>
              <a:ext uri="{FF2B5EF4-FFF2-40B4-BE49-F238E27FC236}">
                <a16:creationId xmlns:a16="http://schemas.microsoft.com/office/drawing/2014/main" id="{2A945B42-511E-4B0B-A255-14C81F202E98}"/>
              </a:ext>
            </a:extLst>
          </p:cNvPr>
          <p:cNvCxnSpPr>
            <a:cxnSpLocks/>
          </p:cNvCxnSpPr>
          <p:nvPr userDrawn="1"/>
        </p:nvCxnSpPr>
        <p:spPr>
          <a:xfrm>
            <a:off x="430306" y="7112000"/>
            <a:ext cx="12677519" cy="0"/>
          </a:xfrm>
          <a:prstGeom prst="line">
            <a:avLst/>
          </a:prstGeom>
          <a:ln>
            <a:solidFill>
              <a:srgbClr val="A7A9AC"/>
            </a:solidFill>
          </a:ln>
        </p:spPr>
        <p:style>
          <a:lnRef idx="1">
            <a:schemeClr val="accent1"/>
          </a:lnRef>
          <a:fillRef idx="0">
            <a:schemeClr val="accent1"/>
          </a:fillRef>
          <a:effectRef idx="0">
            <a:schemeClr val="accent1"/>
          </a:effectRef>
          <a:fontRef idx="minor">
            <a:schemeClr val="tx1"/>
          </a:fontRef>
        </p:style>
      </p:cxnSp>
      <p:sp>
        <p:nvSpPr>
          <p:cNvPr id="10" name="Footer Placeholder 5">
            <a:extLst>
              <a:ext uri="{FF2B5EF4-FFF2-40B4-BE49-F238E27FC236}">
                <a16:creationId xmlns:a16="http://schemas.microsoft.com/office/drawing/2014/main" id="{09B4755E-BC24-4A43-919B-D2B544B6AE45}"/>
              </a:ext>
            </a:extLst>
          </p:cNvPr>
          <p:cNvSpPr>
            <a:spLocks noGrp="1"/>
          </p:cNvSpPr>
          <p:nvPr>
            <p:ph type="ftr" sz="quarter" idx="3"/>
          </p:nvPr>
        </p:nvSpPr>
        <p:spPr>
          <a:xfrm>
            <a:off x="327855" y="7123112"/>
            <a:ext cx="5955979" cy="401638"/>
          </a:xfrm>
          <a:prstGeom prst="rect">
            <a:avLst/>
          </a:prstGeom>
        </p:spPr>
        <p:txBody>
          <a:bodyPr vert="horz" lIns="91440" tIns="45720" rIns="91440" bIns="45720" rtlCol="0" anchor="ctr"/>
          <a:lstStyle>
            <a:lvl1pPr algn="l">
              <a:defRPr sz="900">
                <a:solidFill>
                  <a:srgbClr val="58595B"/>
                </a:solidFill>
                <a:latin typeface="Century Gothic" panose="020B0502020202020204" pitchFamily="34" charset="0"/>
              </a:defRPr>
            </a:lvl1pPr>
          </a:lstStyle>
          <a:p>
            <a:r>
              <a:rPr lang="en-US" dirty="0"/>
              <a:t>Powered by Pure Survey (Pty) Ltd © 2025. Rights Reserved</a:t>
            </a:r>
            <a:endParaRPr lang="en-ZA" dirty="0"/>
          </a:p>
        </p:txBody>
      </p:sp>
      <p:sp>
        <p:nvSpPr>
          <p:cNvPr id="11" name="Slide Number Placeholder 6">
            <a:extLst>
              <a:ext uri="{FF2B5EF4-FFF2-40B4-BE49-F238E27FC236}">
                <a16:creationId xmlns:a16="http://schemas.microsoft.com/office/drawing/2014/main" id="{70625B19-28C4-4AE1-A597-5D07D522A693}"/>
              </a:ext>
            </a:extLst>
          </p:cNvPr>
          <p:cNvSpPr>
            <a:spLocks noGrp="1"/>
          </p:cNvSpPr>
          <p:nvPr>
            <p:ph type="sldNum" sz="quarter" idx="4"/>
          </p:nvPr>
        </p:nvSpPr>
        <p:spPr>
          <a:xfrm>
            <a:off x="10198989" y="7123112"/>
            <a:ext cx="3018118" cy="401638"/>
          </a:xfrm>
          <a:prstGeom prst="rect">
            <a:avLst/>
          </a:prstGeom>
        </p:spPr>
        <p:txBody>
          <a:bodyPr vert="horz" lIns="91440" tIns="45720" rIns="91440" bIns="45720" rtlCol="0" anchor="ctr"/>
          <a:lstStyle>
            <a:lvl1pPr algn="r">
              <a:defRPr sz="900">
                <a:solidFill>
                  <a:srgbClr val="58595B"/>
                </a:solidFill>
                <a:latin typeface="Montserrat" pitchFamily="2" charset="0"/>
              </a:defRPr>
            </a:lvl1pPr>
          </a:lstStyle>
          <a:p>
            <a:fld id="{1345FC39-5FD0-4CFC-A4C3-931930B79EEA}" type="slidenum">
              <a:rPr lang="en-ZA" smtClean="0"/>
              <a:pPr/>
              <a:t>‹#›</a:t>
            </a:fld>
            <a:endParaRPr lang="en-ZA" dirty="0"/>
          </a:p>
        </p:txBody>
      </p:sp>
    </p:spTree>
    <p:extLst>
      <p:ext uri="{BB962C8B-B14F-4D97-AF65-F5344CB8AC3E}">
        <p14:creationId xmlns:p14="http://schemas.microsoft.com/office/powerpoint/2010/main" val="1659033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ontent + Pattern (Heritage Green)">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F28128B1-5820-D552-1456-B40FF704AC47}"/>
              </a:ext>
            </a:extLst>
          </p:cNvPr>
          <p:cNvSpPr>
            <a:spLocks noGrp="1"/>
          </p:cNvSpPr>
          <p:nvPr>
            <p:ph type="body" sz="quarter" idx="14"/>
          </p:nvPr>
        </p:nvSpPr>
        <p:spPr>
          <a:xfrm>
            <a:off x="1339377" y="446226"/>
            <a:ext cx="5867608" cy="446328"/>
          </a:xfrm>
        </p:spPr>
        <p:txBody>
          <a:bodyPr/>
          <a:lstStyle>
            <a:lvl1pPr marL="0" indent="0">
              <a:buNone/>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22">
            <a:extLst>
              <a:ext uri="{FF2B5EF4-FFF2-40B4-BE49-F238E27FC236}">
                <a16:creationId xmlns:a16="http://schemas.microsoft.com/office/drawing/2014/main" id="{12761747-A349-2CD2-DE99-22C0A246B3AB}"/>
              </a:ext>
            </a:extLst>
          </p:cNvPr>
          <p:cNvSpPr>
            <a:spLocks noGrp="1"/>
          </p:cNvSpPr>
          <p:nvPr>
            <p:ph type="body" sz="quarter" idx="15"/>
          </p:nvPr>
        </p:nvSpPr>
        <p:spPr>
          <a:xfrm>
            <a:off x="572322" y="1531815"/>
            <a:ext cx="7464910" cy="5472155"/>
          </a:xfrm>
        </p:spPr>
        <p:txBody>
          <a:bodyPr>
            <a:noAutofit/>
          </a:bodyPr>
          <a:lstStyle>
            <a:lvl1pPr>
              <a:defRPr sz="1540">
                <a:solidFill>
                  <a:srgbClr val="000000"/>
                </a:solidFill>
              </a:defRPr>
            </a:lvl1pPr>
            <a:lvl2pPr>
              <a:defRPr sz="1320">
                <a:solidFill>
                  <a:srgbClr val="000000"/>
                </a:solidFill>
              </a:defRPr>
            </a:lvl2pPr>
            <a:lvl3pPr>
              <a:defRPr sz="1209">
                <a:solidFill>
                  <a:srgbClr val="000000"/>
                </a:solidFill>
              </a:defRPr>
            </a:lvl3pPr>
            <a:lvl4pPr>
              <a:defRPr sz="1155">
                <a:solidFill>
                  <a:srgbClr val="000000"/>
                </a:solidFill>
              </a:defRPr>
            </a:lvl4pPr>
            <a:lvl5pPr>
              <a:defRPr sz="1155">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44" name="Graphic 43">
            <a:extLst>
              <a:ext uri="{FF2B5EF4-FFF2-40B4-BE49-F238E27FC236}">
                <a16:creationId xmlns:a16="http://schemas.microsoft.com/office/drawing/2014/main" id="{584F6955-F672-596B-0A8E-97A85930DD57}"/>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72324" y="2"/>
            <a:ext cx="572322" cy="892551"/>
          </a:xfrm>
          <a:prstGeom prst="rect">
            <a:avLst/>
          </a:prstGeom>
        </p:spPr>
      </p:pic>
      <p:pic>
        <p:nvPicPr>
          <p:cNvPr id="4" name="Graphic 3">
            <a:extLst>
              <a:ext uri="{FF2B5EF4-FFF2-40B4-BE49-F238E27FC236}">
                <a16:creationId xmlns:a16="http://schemas.microsoft.com/office/drawing/2014/main" id="{14AFB56A-D292-C894-00BC-144C24B772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837" y="1"/>
            <a:ext cx="4952364" cy="7543800"/>
          </a:xfrm>
          <a:prstGeom prst="rect">
            <a:avLst/>
          </a:prstGeom>
        </p:spPr>
      </p:pic>
    </p:spTree>
    <p:extLst>
      <p:ext uri="{BB962C8B-B14F-4D97-AF65-F5344CB8AC3E}">
        <p14:creationId xmlns:p14="http://schemas.microsoft.com/office/powerpoint/2010/main" val="3803254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9091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ection Break Slide 3">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E2260CF-6DBC-1CCF-57DE-2220A59E99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
            <a:ext cx="13411200" cy="7543800"/>
          </a:xfrm>
          <a:prstGeom prst="rect">
            <a:avLst/>
          </a:prstGeom>
        </p:spPr>
      </p:pic>
      <p:sp>
        <p:nvSpPr>
          <p:cNvPr id="2" name="Title 1">
            <a:extLst>
              <a:ext uri="{FF2B5EF4-FFF2-40B4-BE49-F238E27FC236}">
                <a16:creationId xmlns:a16="http://schemas.microsoft.com/office/drawing/2014/main" id="{38720DE3-BE81-4905-24E8-DAA61FAE4348}"/>
              </a:ext>
            </a:extLst>
          </p:cNvPr>
          <p:cNvSpPr>
            <a:spLocks noGrp="1"/>
          </p:cNvSpPr>
          <p:nvPr>
            <p:ph type="title" hasCustomPrompt="1"/>
          </p:nvPr>
        </p:nvSpPr>
        <p:spPr>
          <a:xfrm>
            <a:off x="1264889" y="3950108"/>
            <a:ext cx="6492549" cy="447328"/>
          </a:xfrm>
        </p:spPr>
        <p:txBody>
          <a:bodyPr>
            <a:normAutofit/>
          </a:bodyPr>
          <a:lstStyle>
            <a:lvl1pPr>
              <a:defRPr sz="3520">
                <a:solidFill>
                  <a:schemeClr val="bg1"/>
                </a:solidFill>
              </a:defRPr>
            </a:lvl1pPr>
          </a:lstStyle>
          <a:p>
            <a:r>
              <a:rPr lang="en-US"/>
              <a:t>Click to edit heading</a:t>
            </a:r>
            <a:endParaRPr lang="en-GB"/>
          </a:p>
        </p:txBody>
      </p:sp>
      <p:sp>
        <p:nvSpPr>
          <p:cNvPr id="17" name="Text Placeholder 16">
            <a:extLst>
              <a:ext uri="{FF2B5EF4-FFF2-40B4-BE49-F238E27FC236}">
                <a16:creationId xmlns:a16="http://schemas.microsoft.com/office/drawing/2014/main" id="{94FE766A-86FB-2881-90DC-806E19C5317E}"/>
              </a:ext>
            </a:extLst>
          </p:cNvPr>
          <p:cNvSpPr>
            <a:spLocks noGrp="1"/>
          </p:cNvSpPr>
          <p:nvPr>
            <p:ph type="body" sz="quarter" idx="10"/>
          </p:nvPr>
        </p:nvSpPr>
        <p:spPr>
          <a:xfrm>
            <a:off x="1264890" y="4487281"/>
            <a:ext cx="6492021" cy="378937"/>
          </a:xfrm>
        </p:spPr>
        <p:txBody>
          <a:bodyPr>
            <a:noAutofit/>
          </a:bodyPr>
          <a:lstStyle>
            <a:lvl1pPr marL="0" indent="0">
              <a:buNone/>
              <a:defRPr sz="2640">
                <a:solidFill>
                  <a:schemeClr val="bg1"/>
                </a:solidFill>
              </a:defRPr>
            </a:lvl1pPr>
          </a:lstStyle>
          <a:p>
            <a:pPr lvl="0"/>
            <a:r>
              <a:rPr lang="en-US"/>
              <a:t>Click to edit Master text styles</a:t>
            </a:r>
          </a:p>
        </p:txBody>
      </p:sp>
      <p:sp>
        <p:nvSpPr>
          <p:cNvPr id="8" name="Rectangle 7">
            <a:extLst>
              <a:ext uri="{FF2B5EF4-FFF2-40B4-BE49-F238E27FC236}">
                <a16:creationId xmlns:a16="http://schemas.microsoft.com/office/drawing/2014/main" id="{ADEB17C2-C361-6DF9-01F3-1C3B55E15B5F}"/>
              </a:ext>
            </a:extLst>
          </p:cNvPr>
          <p:cNvSpPr/>
          <p:nvPr/>
        </p:nvSpPr>
        <p:spPr>
          <a:xfrm>
            <a:off x="2714" y="2078105"/>
            <a:ext cx="3745464" cy="14233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97"/>
          </a:p>
        </p:txBody>
      </p:sp>
      <p:pic>
        <p:nvPicPr>
          <p:cNvPr id="3" name="Picture 2">
            <a:extLst>
              <a:ext uri="{FF2B5EF4-FFF2-40B4-BE49-F238E27FC236}">
                <a16:creationId xmlns:a16="http://schemas.microsoft.com/office/drawing/2014/main" id="{0CA5504D-97A5-ABD1-9115-93A7E6D250E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81392" y="2224482"/>
            <a:ext cx="1838606" cy="1130605"/>
          </a:xfrm>
          <a:prstGeom prst="rect">
            <a:avLst/>
          </a:prstGeom>
        </p:spPr>
      </p:pic>
    </p:spTree>
    <p:extLst>
      <p:ext uri="{BB962C8B-B14F-4D97-AF65-F5344CB8AC3E}">
        <p14:creationId xmlns:p14="http://schemas.microsoft.com/office/powerpoint/2010/main" val="25012173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24864E3-145E-40E6-BEDE-DB54597925AD}"/>
              </a:ext>
            </a:extLst>
          </p:cNvPr>
          <p:cNvSpPr>
            <a:spLocks noGrp="1"/>
          </p:cNvSpPr>
          <p:nvPr>
            <p:ph type="ftr" sz="quarter" idx="3"/>
          </p:nvPr>
        </p:nvSpPr>
        <p:spPr>
          <a:xfrm>
            <a:off x="327855" y="7142162"/>
            <a:ext cx="5955979" cy="401638"/>
          </a:xfrm>
          <a:prstGeom prst="rect">
            <a:avLst/>
          </a:prstGeom>
        </p:spPr>
        <p:txBody>
          <a:bodyPr vert="horz" lIns="91440" tIns="45720" rIns="91440" bIns="45720" rtlCol="0" anchor="ctr"/>
          <a:lstStyle>
            <a:lvl1pPr algn="l">
              <a:defRPr sz="900">
                <a:solidFill>
                  <a:srgbClr val="58595B"/>
                </a:solidFill>
                <a:latin typeface="Montserrat" pitchFamily="2" charset="0"/>
              </a:defRPr>
            </a:lvl1pPr>
          </a:lstStyle>
          <a:p>
            <a:r>
              <a:rPr lang="en-US" dirty="0"/>
              <a:t>Powered by Pure Survey (Pty) Ltd © 2025. Rights Reserved</a:t>
            </a:r>
            <a:endParaRPr lang="en-ZA" dirty="0"/>
          </a:p>
        </p:txBody>
      </p:sp>
      <p:sp>
        <p:nvSpPr>
          <p:cNvPr id="7" name="Slide Number Placeholder 6">
            <a:extLst>
              <a:ext uri="{FF2B5EF4-FFF2-40B4-BE49-F238E27FC236}">
                <a16:creationId xmlns:a16="http://schemas.microsoft.com/office/drawing/2014/main" id="{556A86C0-BE4C-4DDF-8B76-C7F249305BC3}"/>
              </a:ext>
            </a:extLst>
          </p:cNvPr>
          <p:cNvSpPr>
            <a:spLocks noGrp="1"/>
          </p:cNvSpPr>
          <p:nvPr>
            <p:ph type="sldNum" sz="quarter" idx="4"/>
          </p:nvPr>
        </p:nvSpPr>
        <p:spPr>
          <a:xfrm>
            <a:off x="10198989" y="7142162"/>
            <a:ext cx="3018118" cy="401638"/>
          </a:xfrm>
          <a:prstGeom prst="rect">
            <a:avLst/>
          </a:prstGeom>
        </p:spPr>
        <p:txBody>
          <a:bodyPr vert="horz" lIns="91440" tIns="45720" rIns="91440" bIns="45720" rtlCol="0" anchor="ctr"/>
          <a:lstStyle>
            <a:lvl1pPr algn="r">
              <a:defRPr sz="900">
                <a:solidFill>
                  <a:srgbClr val="58595B"/>
                </a:solidFill>
                <a:latin typeface="Montserrat" pitchFamily="2" charset="0"/>
              </a:defRPr>
            </a:lvl1pPr>
          </a:lstStyle>
          <a:p>
            <a:fld id="{1345FC39-5FD0-4CFC-A4C3-931930B79EEA}" type="slidenum">
              <a:rPr lang="en-ZA" smtClean="0"/>
              <a:pPr/>
              <a:t>‹#›</a:t>
            </a:fld>
            <a:endParaRPr lang="en-ZA" dirty="0"/>
          </a:p>
        </p:txBody>
      </p:sp>
      <p:pic>
        <p:nvPicPr>
          <p:cNvPr id="4" name="Picture 3">
            <a:extLst>
              <a:ext uri="{FF2B5EF4-FFF2-40B4-BE49-F238E27FC236}">
                <a16:creationId xmlns:a16="http://schemas.microsoft.com/office/drawing/2014/main" id="{0DBD757F-59CE-453B-ABB9-77A6CA3B13BA}"/>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0135"/>
          <a:stretch/>
        </p:blipFill>
        <p:spPr>
          <a:xfrm>
            <a:off x="528584" y="4136"/>
            <a:ext cx="572485" cy="825855"/>
          </a:xfrm>
          <a:prstGeom prst="rect">
            <a:avLst/>
          </a:prstGeom>
        </p:spPr>
      </p:pic>
      <p:pic>
        <p:nvPicPr>
          <p:cNvPr id="5" name="Picture 4">
            <a:extLst>
              <a:ext uri="{FF2B5EF4-FFF2-40B4-BE49-F238E27FC236}">
                <a16:creationId xmlns:a16="http://schemas.microsoft.com/office/drawing/2014/main" id="{43A21623-F9DE-473A-80A8-A379C21272A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968275" y="248920"/>
            <a:ext cx="1009261" cy="619179"/>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8" r:id="rId2"/>
  </p:sldLayoutIdLst>
  <p:hf hdr="0" dt="0"/>
  <p:txStyles>
    <p:titleStyle>
      <a:lvl1pPr>
        <a:defRPr sz="2000" b="1">
          <a:solidFill>
            <a:srgbClr val="009677"/>
          </a:solidFill>
          <a:latin typeface="Montserrat" pitchFamily="2" charset="0"/>
        </a:defRPr>
      </a:lvl1pPr>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1515720"/>
      </p:ext>
    </p:extLst>
  </p:cSld>
  <p:clrMap bg1="lt1" tx1="dk1" bg2="lt2" tx2="dk2" accent1="accent1" accent2="accent2" accent3="accent3" accent4="accent4" accent5="accent5" accent6="accent6" hlink="hlink" folHlink="folHlink"/>
  <p:sldLayoutIdLst>
    <p:sldLayoutId id="2147483654" r:id="rId1"/>
    <p:sldLayoutId id="2147483656"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7250175-D33E-4DC7-925C-C1303A722CD1}"/>
              </a:ext>
            </a:extLst>
          </p:cNvPr>
          <p:cNvPicPr>
            <a:picLocks noGrp="1" noChangeAspect="1"/>
          </p:cNvPicPr>
          <p:nvPr>
            <p:ph idx="4294967295"/>
          </p:nvPr>
        </p:nvPicPr>
        <p:blipFill>
          <a:blip r:embed="rId3"/>
          <a:stretch>
            <a:fillRect/>
          </a:stretch>
        </p:blipFill>
        <p:spPr/>
      </p:pic>
      <p:sp>
        <p:nvSpPr>
          <p:cNvPr id="7" name="TextBox 6">
            <a:extLst>
              <a:ext uri="{FF2B5EF4-FFF2-40B4-BE49-F238E27FC236}">
                <a16:creationId xmlns:a16="http://schemas.microsoft.com/office/drawing/2014/main" id="{B9024124-5FD3-469F-8BB5-1A5AF72B1DC6}"/>
              </a:ext>
            </a:extLst>
          </p:cNvPr>
          <p:cNvSpPr txBox="1"/>
          <p:nvPr/>
        </p:nvSpPr>
        <p:spPr>
          <a:xfrm>
            <a:off x="551424" y="5472340"/>
            <a:ext cx="4220308" cy="461665"/>
          </a:xfrm>
          <a:prstGeom prst="rect">
            <a:avLst/>
          </a:prstGeom>
          <a:noFill/>
        </p:spPr>
        <p:txBody>
          <a:bodyPr wrap="square" rtlCol="0">
            <a:spAutoFit/>
          </a:bodyPr>
          <a:lstStyle/>
          <a:p>
            <a:r>
              <a:rPr lang="en-US" sz="2400" b="1" dirty="0">
                <a:solidFill>
                  <a:srgbClr val="009677"/>
                </a:solidFill>
                <a:latin typeface="Century Gothic" panose="020B0502020202020204" pitchFamily="34" charset="0"/>
              </a:rPr>
              <a:t>PULSE CULTURE SURVEY</a:t>
            </a:r>
            <a:endParaRPr lang="en-ZA" sz="2400" b="1" dirty="0">
              <a:solidFill>
                <a:srgbClr val="009677"/>
              </a:solidFill>
              <a:latin typeface="Century Gothic" panose="020B0502020202020204" pitchFamily="34" charset="0"/>
            </a:endParaRPr>
          </a:p>
        </p:txBody>
      </p:sp>
      <p:sp>
        <p:nvSpPr>
          <p:cNvPr id="8" name="TextBox 7">
            <a:extLst>
              <a:ext uri="{FF2B5EF4-FFF2-40B4-BE49-F238E27FC236}">
                <a16:creationId xmlns:a16="http://schemas.microsoft.com/office/drawing/2014/main" id="{5D061E3E-59DC-49F8-AAC1-000CA20D1C23}"/>
              </a:ext>
            </a:extLst>
          </p:cNvPr>
          <p:cNvSpPr txBox="1"/>
          <p:nvPr/>
        </p:nvSpPr>
        <p:spPr>
          <a:xfrm>
            <a:off x="551423" y="5841671"/>
            <a:ext cx="5144382" cy="615553"/>
          </a:xfrm>
          <a:prstGeom prst="rect">
            <a:avLst/>
          </a:prstGeom>
          <a:noFill/>
        </p:spPr>
        <p:txBody>
          <a:bodyPr wrap="square" rtlCol="0">
            <a:spAutoFit/>
          </a:bodyPr>
          <a:lstStyle/>
          <a:p>
            <a:r>
              <a:rPr lang="en-US" sz="3400" dirty="0">
                <a:solidFill>
                  <a:srgbClr val="009677"/>
                </a:solidFill>
                <a:latin typeface="Century Gothic" panose="020B0502020202020204" pitchFamily="34" charset="0"/>
              </a:rPr>
              <a:t>OVERALL REPORT</a:t>
            </a:r>
            <a:endParaRPr lang="en-ZA" sz="3400" dirty="0">
              <a:solidFill>
                <a:srgbClr val="009677"/>
              </a:solidFill>
              <a:latin typeface="Century Gothic" panose="020B0502020202020204" pitchFamily="34" charset="0"/>
            </a:endParaRPr>
          </a:p>
        </p:txBody>
      </p:sp>
    </p:spTree>
    <p:extLst>
      <p:ext uri="{BB962C8B-B14F-4D97-AF65-F5344CB8AC3E}">
        <p14:creationId xmlns:p14="http://schemas.microsoft.com/office/powerpoint/2010/main" val="302776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4622893-D298-46A1-838F-04E961CB7FAB}"/>
              </a:ext>
            </a:extLst>
          </p:cNvPr>
          <p:cNvSpPr txBox="1"/>
          <p:nvPr/>
        </p:nvSpPr>
        <p:spPr>
          <a:xfrm>
            <a:off x="459939" y="1181624"/>
            <a:ext cx="1722695" cy="338554"/>
          </a:xfrm>
          <a:prstGeom prst="rect">
            <a:avLst/>
          </a:prstGeom>
          <a:noFill/>
        </p:spPr>
        <p:txBody>
          <a:bodyPr wrap="square" rtlCol="0">
            <a:spAutoFit/>
          </a:bodyPr>
          <a:lstStyle/>
          <a:p>
            <a:r>
              <a:rPr lang="en-US" sz="1600" b="1" dirty="0">
                <a:solidFill>
                  <a:srgbClr val="121328"/>
                </a:solidFill>
                <a:latin typeface="Montserrat" pitchFamily="2" charset="0"/>
              </a:rPr>
              <a:t>Report Filters:</a:t>
            </a:r>
            <a:endParaRPr lang="en-ZA" sz="1600" b="1" dirty="0">
              <a:solidFill>
                <a:srgbClr val="121328"/>
              </a:solidFill>
              <a:latin typeface="Montserrat" pitchFamily="2" charset="0"/>
            </a:endParaRPr>
          </a:p>
        </p:txBody>
      </p:sp>
      <p:graphicFrame>
        <p:nvGraphicFramePr>
          <p:cNvPr id="14" name="Table 13">
            <a:extLst>
              <a:ext uri="{FF2B5EF4-FFF2-40B4-BE49-F238E27FC236}">
                <a16:creationId xmlns:a16="http://schemas.microsoft.com/office/drawing/2014/main" id="{1AD7899A-F7BC-4346-8436-BA9342639AB3}"/>
              </a:ext>
            </a:extLst>
          </p:cNvPr>
          <p:cNvGraphicFramePr>
            <a:graphicFrameLocks noGrp="1"/>
          </p:cNvGraphicFramePr>
          <p:nvPr>
            <p:extLst>
              <p:ext uri="{D42A27DB-BD31-4B8C-83A1-F6EECF244321}">
                <p14:modId xmlns:p14="http://schemas.microsoft.com/office/powerpoint/2010/main" val="2793119938"/>
              </p:ext>
            </p:extLst>
          </p:nvPr>
        </p:nvGraphicFramePr>
        <p:xfrm>
          <a:off x="459939" y="1658620"/>
          <a:ext cx="7124700" cy="4450080"/>
        </p:xfrm>
        <a:graphic>
          <a:graphicData uri="http://schemas.openxmlformats.org/drawingml/2006/table">
            <a:tbl>
              <a:tblPr firstRow="1" bandRow="1">
                <a:tableStyleId>{2D5ABB26-0587-4C30-8999-92F81FD0307C}</a:tableStyleId>
              </a:tblPr>
              <a:tblGrid>
                <a:gridCol w="2352957">
                  <a:extLst>
                    <a:ext uri="{9D8B030D-6E8A-4147-A177-3AD203B41FA5}">
                      <a16:colId xmlns:a16="http://schemas.microsoft.com/office/drawing/2014/main" val="3857080776"/>
                    </a:ext>
                  </a:extLst>
                </a:gridCol>
                <a:gridCol w="4771743">
                  <a:extLst>
                    <a:ext uri="{9D8B030D-6E8A-4147-A177-3AD203B41FA5}">
                      <a16:colId xmlns:a16="http://schemas.microsoft.com/office/drawing/2014/main" val="1545943531"/>
                    </a:ext>
                  </a:extLst>
                </a:gridCol>
              </a:tblGrid>
              <a:tr h="370840">
                <a:tc gridSpan="2">
                  <a:txBody>
                    <a:bodyPr/>
                    <a:lstStyle/>
                    <a:p>
                      <a:r>
                        <a:rPr lang="en-ZA" sz="1200" b="1" dirty="0">
                          <a:effectLst/>
                          <a:latin typeface="Montserrat" pitchFamily="2" charset="0"/>
                        </a:rPr>
                        <a:t>Organisational Levels</a:t>
                      </a:r>
                      <a:endParaRPr lang="en-ZA" sz="1200" b="1" dirty="0">
                        <a:latin typeface="Montserrat" pitchFamily="2" charset="0"/>
                      </a:endParaRPr>
                    </a:p>
                  </a:txBody>
                  <a:tcPr marT="41564" marB="41564"/>
                </a:tc>
                <a:tc hMerge="1">
                  <a:txBody>
                    <a:bodyPr/>
                    <a:lstStyle/>
                    <a:p>
                      <a:endParaRPr lang="en-ZA"/>
                    </a:p>
                  </a:txBody>
                  <a:tcPr/>
                </a:tc>
                <a:extLst>
                  <a:ext uri="{0D108BD9-81ED-4DB2-BD59-A6C34878D82A}">
                    <a16:rowId xmlns:a16="http://schemas.microsoft.com/office/drawing/2014/main" val="3654918812"/>
                  </a:ext>
                </a:extLst>
              </a:tr>
              <a:tr h="370840">
                <a:tc>
                  <a:txBody>
                    <a:bodyPr/>
                    <a:lstStyle/>
                    <a:p>
                      <a:r>
                        <a:rPr lang="en-ZA" sz="1200" dirty="0">
                          <a:effectLst/>
                          <a:latin typeface="Montserrat" pitchFamily="2" charset="0"/>
                        </a:rPr>
                        <a:t>Organisation Level 1</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2054677623"/>
                  </a:ext>
                </a:extLst>
              </a:tr>
              <a:tr h="370840">
                <a:tc>
                  <a:txBody>
                    <a:bodyPr/>
                    <a:lstStyle/>
                    <a:p>
                      <a:r>
                        <a:rPr lang="en-ZA" sz="1200" dirty="0">
                          <a:effectLst/>
                          <a:latin typeface="Montserrat" pitchFamily="2" charset="0"/>
                        </a:rPr>
                        <a:t>Team / Department</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413306655"/>
                  </a:ext>
                </a:extLst>
              </a:tr>
              <a:tr h="370840">
                <a:tc>
                  <a:txBody>
                    <a:bodyPr/>
                    <a:lstStyle/>
                    <a:p>
                      <a:r>
                        <a:rPr lang="en-ZA" sz="1200" dirty="0">
                          <a:effectLst/>
                          <a:latin typeface="Montserrat" pitchFamily="2" charset="0"/>
                        </a:rPr>
                        <a:t>Business Unit</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1431983622"/>
                  </a:ext>
                </a:extLst>
              </a:tr>
              <a:tr h="370840">
                <a:tc>
                  <a:txBody>
                    <a:bodyPr/>
                    <a:lstStyle/>
                    <a:p>
                      <a:r>
                        <a:rPr lang="en-ZA" sz="1200" dirty="0">
                          <a:effectLst/>
                          <a:latin typeface="Montserrat" pitchFamily="2" charset="0"/>
                        </a:rPr>
                        <a:t>Position / Level</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1002055938"/>
                  </a:ext>
                </a:extLst>
              </a:tr>
              <a:tr h="370840">
                <a:tc>
                  <a:txBody>
                    <a:bodyPr/>
                    <a:lstStyle/>
                    <a:p>
                      <a:r>
                        <a:rPr lang="en-ZA" sz="1200" dirty="0">
                          <a:effectLst/>
                          <a:latin typeface="Montserrat" pitchFamily="2" charset="0"/>
                        </a:rPr>
                        <a:t>Line Manager</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3599926862"/>
                  </a:ext>
                </a:extLst>
              </a:tr>
              <a:tr h="370840">
                <a:tc gridSpan="2">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ZA" sz="1200" b="1" dirty="0">
                          <a:effectLst/>
                          <a:latin typeface="Montserrat" pitchFamily="2" charset="0"/>
                        </a:rPr>
                        <a:t>Demographics</a:t>
                      </a:r>
                      <a:endParaRPr lang="en-ZA" sz="1200" b="1" dirty="0">
                        <a:latin typeface="Montserrat" pitchFamily="2" charset="0"/>
                      </a:endParaRPr>
                    </a:p>
                  </a:txBody>
                  <a:tcPr marT="41564" marB="41564"/>
                </a:tc>
                <a:tc hMerge="1">
                  <a:txBody>
                    <a:bodyPr/>
                    <a:lstStyle/>
                    <a:p>
                      <a:endParaRPr lang="en-ZA"/>
                    </a:p>
                  </a:txBody>
                  <a:tcPr/>
                </a:tc>
                <a:extLst>
                  <a:ext uri="{0D108BD9-81ED-4DB2-BD59-A6C34878D82A}">
                    <a16:rowId xmlns:a16="http://schemas.microsoft.com/office/drawing/2014/main" val="2042329384"/>
                  </a:ext>
                </a:extLst>
              </a:tr>
              <a:tr h="370840">
                <a:tc>
                  <a:txBody>
                    <a:bodyPr/>
                    <a:lstStyle/>
                    <a:p>
                      <a:r>
                        <a:rPr lang="en-ZA" sz="1200" dirty="0">
                          <a:effectLst/>
                          <a:latin typeface="Montserrat" pitchFamily="2" charset="0"/>
                        </a:rPr>
                        <a:t>Age</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3998895500"/>
                  </a:ext>
                </a:extLst>
              </a:tr>
              <a:tr h="370840">
                <a:tc>
                  <a:txBody>
                    <a:bodyPr/>
                    <a:lstStyle/>
                    <a:p>
                      <a:r>
                        <a:rPr lang="en-ZA" sz="1200" dirty="0">
                          <a:effectLst/>
                          <a:latin typeface="Montserrat" pitchFamily="2" charset="0"/>
                        </a:rPr>
                        <a:t>Tenure</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918456772"/>
                  </a:ext>
                </a:extLst>
              </a:tr>
              <a:tr h="370840">
                <a:tc>
                  <a:txBody>
                    <a:bodyPr/>
                    <a:lstStyle/>
                    <a:p>
                      <a:r>
                        <a:rPr lang="en-ZA" sz="1200" dirty="0">
                          <a:effectLst/>
                          <a:latin typeface="Montserrat" pitchFamily="2" charset="0"/>
                        </a:rPr>
                        <a:t>Gender</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1183291025"/>
                  </a:ext>
                </a:extLst>
              </a:tr>
              <a:tr h="370840">
                <a:tc>
                  <a:txBody>
                    <a:bodyPr/>
                    <a:lstStyle/>
                    <a:p>
                      <a:r>
                        <a:rPr lang="en-ZA" sz="1200" dirty="0">
                          <a:effectLst/>
                          <a:latin typeface="Montserrat" pitchFamily="2" charset="0"/>
                        </a:rPr>
                        <a:t>Generate date</a:t>
                      </a:r>
                      <a:endParaRPr lang="en-ZA" sz="1200" dirty="0">
                        <a:latin typeface="Montserrat" pitchFamily="2" charset="0"/>
                      </a:endParaRPr>
                    </a:p>
                  </a:txBody>
                  <a:tcPr/>
                </a:tc>
                <a:tc>
                  <a:txBody>
                    <a:bodyPr/>
                    <a:lstStyle/>
                    <a:p>
                      <a:r>
                        <a:rPr lang="en-ZA" sz="1200">
                          <a:effectLst/>
                          <a:latin typeface="Montserrat" pitchFamily="2" charset="0"/>
                        </a:rPr>
                        <a:t>June 2025</a:t>
                      </a:r>
                      <a:endParaRPr lang="en-ZA" sz="1200" dirty="0">
                        <a:latin typeface="Montserrat" pitchFamily="2" charset="0"/>
                      </a:endParaRPr>
                    </a:p>
                  </a:txBody>
                  <a:tcPr/>
                </a:tc>
                <a:extLst>
                  <a:ext uri="{0D108BD9-81ED-4DB2-BD59-A6C34878D82A}">
                    <a16:rowId xmlns:a16="http://schemas.microsoft.com/office/drawing/2014/main" val="1733685253"/>
                  </a:ext>
                </a:extLst>
              </a:tr>
              <a:tr h="370840">
                <a:tc>
                  <a:txBody>
                    <a:bodyPr/>
                    <a:lstStyle/>
                    <a:p>
                      <a:r>
                        <a:rPr lang="en-ZA" sz="1200" dirty="0">
                          <a:effectLst/>
                          <a:latin typeface="Montserrat" pitchFamily="2" charset="0"/>
                        </a:rPr>
                        <a:t>Response sample size</a:t>
                      </a:r>
                      <a:endParaRPr lang="en-ZA" sz="1200" dirty="0">
                        <a:latin typeface="Montserrat" pitchFamily="2" charset="0"/>
                      </a:endParaRPr>
                    </a:p>
                  </a:txBody>
                  <a:tcPr/>
                </a:tc>
                <a:tc>
                  <a:txBody>
                    <a:bodyPr/>
                    <a:lstStyle/>
                    <a:p>
                      <a:r>
                        <a:rPr lang="en-ZA" sz="1200" dirty="0">
                          <a:effectLst/>
                          <a:latin typeface="Montserrat" pitchFamily="2" charset="0"/>
                        </a:rPr>
                        <a:t>3500</a:t>
                      </a:r>
                      <a:endParaRPr lang="en-ZA" sz="1200" dirty="0">
                        <a:latin typeface="Montserrat" pitchFamily="2" charset="0"/>
                      </a:endParaRPr>
                    </a:p>
                  </a:txBody>
                  <a:tcPr/>
                </a:tc>
                <a:extLst>
                  <a:ext uri="{0D108BD9-81ED-4DB2-BD59-A6C34878D82A}">
                    <a16:rowId xmlns:a16="http://schemas.microsoft.com/office/drawing/2014/main" val="735666174"/>
                  </a:ext>
                </a:extLst>
              </a:tr>
            </a:tbl>
          </a:graphicData>
        </a:graphic>
      </p:graphicFrame>
      <p:sp>
        <p:nvSpPr>
          <p:cNvPr id="16" name="Title 15">
            <a:extLst>
              <a:ext uri="{FF2B5EF4-FFF2-40B4-BE49-F238E27FC236}">
                <a16:creationId xmlns:a16="http://schemas.microsoft.com/office/drawing/2014/main" id="{BF4CA9AF-A5EC-46A1-9C0D-5879D1EE6001}"/>
              </a:ext>
            </a:extLst>
          </p:cNvPr>
          <p:cNvSpPr>
            <a:spLocks noGrp="1"/>
          </p:cNvSpPr>
          <p:nvPr>
            <p:ph type="title"/>
          </p:nvPr>
        </p:nvSpPr>
        <p:spPr/>
        <p:txBody>
          <a:bodyPr/>
          <a:lstStyle/>
          <a:p>
            <a:r>
              <a:rPr lang="en-US" dirty="0"/>
              <a:t>PULSE CULTURE SURVEY</a:t>
            </a:r>
            <a:br>
              <a:rPr lang="en-ZA" dirty="0"/>
            </a:br>
            <a:endParaRPr lang="en-ZA" dirty="0"/>
          </a:p>
        </p:txBody>
      </p:sp>
      <p:sp>
        <p:nvSpPr>
          <p:cNvPr id="2" name="Footer Placeholder 1">
            <a:extLst>
              <a:ext uri="{FF2B5EF4-FFF2-40B4-BE49-F238E27FC236}">
                <a16:creationId xmlns:a16="http://schemas.microsoft.com/office/drawing/2014/main" id="{5C43FB76-0020-43AC-AE42-61021F89E69A}"/>
              </a:ext>
            </a:extLst>
          </p:cNvPr>
          <p:cNvSpPr>
            <a:spLocks noGrp="1"/>
          </p:cNvSpPr>
          <p:nvPr>
            <p:ph type="ftr" sz="quarter" idx="3"/>
          </p:nvPr>
        </p:nvSpPr>
        <p:spPr/>
        <p:txBody>
          <a:bodyPr/>
          <a:lstStyle/>
          <a:p>
            <a:r>
              <a:rPr lang="en-US" dirty="0"/>
              <a:t>Powered by Pure Survey (Pty) Ltd © 2025. Rights Reserved</a:t>
            </a:r>
            <a:endParaRPr lang="en-ZA" dirty="0"/>
          </a:p>
        </p:txBody>
      </p:sp>
      <p:sp>
        <p:nvSpPr>
          <p:cNvPr id="3" name="Slide Number Placeholder 2">
            <a:extLst>
              <a:ext uri="{FF2B5EF4-FFF2-40B4-BE49-F238E27FC236}">
                <a16:creationId xmlns:a16="http://schemas.microsoft.com/office/drawing/2014/main" id="{5BF7E405-1F74-44DD-A945-BFCF439BC8E8}"/>
              </a:ext>
            </a:extLst>
          </p:cNvPr>
          <p:cNvSpPr>
            <a:spLocks noGrp="1"/>
          </p:cNvSpPr>
          <p:nvPr>
            <p:ph type="sldNum" sz="quarter" idx="4"/>
          </p:nvPr>
        </p:nvSpPr>
        <p:spPr/>
        <p:txBody>
          <a:bodyPr/>
          <a:lstStyle/>
          <a:p>
            <a:fld id="{1345FC39-5FD0-4CFC-A4C3-931930B79EEA}" type="slidenum">
              <a:rPr lang="en-ZA" smtClean="0"/>
              <a:pPr/>
              <a:t>2</a:t>
            </a:fld>
            <a:endParaRPr lang="en-ZA" dirty="0"/>
          </a:p>
        </p:txBody>
      </p:sp>
    </p:spTree>
    <p:extLst>
      <p:ext uri="{BB962C8B-B14F-4D97-AF65-F5344CB8AC3E}">
        <p14:creationId xmlns:p14="http://schemas.microsoft.com/office/powerpoint/2010/main" val="2726552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26054C1-DA50-4F22-8F81-5258D04A04A6}"/>
              </a:ext>
            </a:extLst>
          </p:cNvPr>
          <p:cNvSpPr>
            <a:spLocks noGrp="1"/>
          </p:cNvSpPr>
          <p:nvPr>
            <p:ph type="title"/>
          </p:nvPr>
        </p:nvSpPr>
        <p:spPr/>
        <p:txBody>
          <a:bodyPr/>
          <a:lstStyle/>
          <a:p>
            <a:r>
              <a:rPr lang="en-GB" dirty="0"/>
              <a:t>OML CHANGE READINESS SUMMARY SCORES</a:t>
            </a:r>
            <a:endParaRPr lang="en-ZA" dirty="0"/>
          </a:p>
        </p:txBody>
      </p:sp>
      <p:sp>
        <p:nvSpPr>
          <p:cNvPr id="4" name="Footer Placeholder 3">
            <a:extLst>
              <a:ext uri="{FF2B5EF4-FFF2-40B4-BE49-F238E27FC236}">
                <a16:creationId xmlns:a16="http://schemas.microsoft.com/office/drawing/2014/main" id="{77358B5C-D3FF-44C0-9557-586693C5BF02}"/>
              </a:ext>
            </a:extLst>
          </p:cNvPr>
          <p:cNvSpPr>
            <a:spLocks noGrp="1"/>
          </p:cNvSpPr>
          <p:nvPr>
            <p:ph type="ftr" sz="quarter" idx="3"/>
          </p:nvPr>
        </p:nvSpPr>
        <p:spPr/>
        <p:txBody>
          <a:bodyPr/>
          <a:lstStyle/>
          <a:p>
            <a:r>
              <a:rPr lang="en-US" dirty="0"/>
              <a:t>Powered by Pure Survey (Pty) Ltd © 2025. Rights Reserved</a:t>
            </a:r>
            <a:endParaRPr lang="en-ZA" dirty="0"/>
          </a:p>
        </p:txBody>
      </p:sp>
      <p:sp>
        <p:nvSpPr>
          <p:cNvPr id="5" name="Slide Number Placeholder 4">
            <a:extLst>
              <a:ext uri="{FF2B5EF4-FFF2-40B4-BE49-F238E27FC236}">
                <a16:creationId xmlns:a16="http://schemas.microsoft.com/office/drawing/2014/main" id="{E1EB3B69-317F-4359-A16D-B6B18960AF7B}"/>
              </a:ext>
            </a:extLst>
          </p:cNvPr>
          <p:cNvSpPr>
            <a:spLocks noGrp="1"/>
          </p:cNvSpPr>
          <p:nvPr>
            <p:ph type="sldNum" sz="quarter" idx="4"/>
          </p:nvPr>
        </p:nvSpPr>
        <p:spPr/>
        <p:txBody>
          <a:bodyPr/>
          <a:lstStyle/>
          <a:p>
            <a:fld id="{1345FC39-5FD0-4CFC-A4C3-931930B79EEA}" type="slidenum">
              <a:rPr lang="en-ZA" smtClean="0"/>
              <a:pPr/>
              <a:t>3</a:t>
            </a:fld>
            <a:endParaRPr lang="en-ZA" dirty="0"/>
          </a:p>
        </p:txBody>
      </p:sp>
      <p:sp>
        <p:nvSpPr>
          <p:cNvPr id="8" name="Rectangle: Rounded Corners 7">
            <a:extLst>
              <a:ext uri="{FF2B5EF4-FFF2-40B4-BE49-F238E27FC236}">
                <a16:creationId xmlns:a16="http://schemas.microsoft.com/office/drawing/2014/main" id="{5F435C4A-E827-4DAE-9AAB-1948A650A762}"/>
              </a:ext>
            </a:extLst>
          </p:cNvPr>
          <p:cNvSpPr/>
          <p:nvPr/>
        </p:nvSpPr>
        <p:spPr>
          <a:xfrm>
            <a:off x="469900" y="1181100"/>
            <a:ext cx="2044700" cy="57404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Rectangle: Rounded Corners 12">
            <a:extLst>
              <a:ext uri="{FF2B5EF4-FFF2-40B4-BE49-F238E27FC236}">
                <a16:creationId xmlns:a16="http://schemas.microsoft.com/office/drawing/2014/main" id="{D83A36C7-04D8-4A9B-891F-AD7A90F033F3}"/>
              </a:ext>
            </a:extLst>
          </p:cNvPr>
          <p:cNvSpPr/>
          <p:nvPr/>
        </p:nvSpPr>
        <p:spPr>
          <a:xfrm>
            <a:off x="584199" y="1270000"/>
            <a:ext cx="1816101" cy="55626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9" name="TextBox 8">
            <a:extLst>
              <a:ext uri="{FF2B5EF4-FFF2-40B4-BE49-F238E27FC236}">
                <a16:creationId xmlns:a16="http://schemas.microsoft.com/office/drawing/2014/main" id="{F81F4CCF-3F0A-4EA7-9B61-E44E0E6C9D80}"/>
              </a:ext>
            </a:extLst>
          </p:cNvPr>
          <p:cNvSpPr txBox="1"/>
          <p:nvPr/>
        </p:nvSpPr>
        <p:spPr>
          <a:xfrm>
            <a:off x="584199" y="1733550"/>
            <a:ext cx="1816101" cy="584775"/>
          </a:xfrm>
          <a:prstGeom prst="rect">
            <a:avLst/>
          </a:prstGeom>
          <a:noFill/>
        </p:spPr>
        <p:txBody>
          <a:bodyPr wrap="square" rtlCol="0">
            <a:spAutoFit/>
          </a:bodyPr>
          <a:lstStyle/>
          <a:p>
            <a:pPr algn="ctr"/>
            <a:r>
              <a:rPr lang="en-GB" sz="3200" b="1" dirty="0">
                <a:solidFill>
                  <a:srgbClr val="282828"/>
                </a:solidFill>
                <a:latin typeface="Century Gothic" panose="020B0502020202020204" pitchFamily="34" charset="0"/>
              </a:rPr>
              <a:t>25,345</a:t>
            </a:r>
            <a:endParaRPr lang="en-ZA" sz="3200" b="1" dirty="0">
              <a:solidFill>
                <a:srgbClr val="282828"/>
              </a:solidFill>
              <a:latin typeface="Century Gothic" panose="020B0502020202020204" pitchFamily="34" charset="0"/>
            </a:endParaRPr>
          </a:p>
        </p:txBody>
      </p:sp>
      <p:sp>
        <p:nvSpPr>
          <p:cNvPr id="10" name="TextBox 9">
            <a:extLst>
              <a:ext uri="{FF2B5EF4-FFF2-40B4-BE49-F238E27FC236}">
                <a16:creationId xmlns:a16="http://schemas.microsoft.com/office/drawing/2014/main" id="{F35A428E-6E97-4F8A-B421-504D7DDE0284}"/>
              </a:ext>
            </a:extLst>
          </p:cNvPr>
          <p:cNvSpPr txBox="1"/>
          <p:nvPr/>
        </p:nvSpPr>
        <p:spPr>
          <a:xfrm>
            <a:off x="584199" y="2256770"/>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Employee Headcount</a:t>
            </a:r>
            <a:endParaRPr lang="en-ZA" sz="1000" dirty="0">
              <a:solidFill>
                <a:schemeClr val="tx1">
                  <a:lumMod val="50000"/>
                  <a:lumOff val="50000"/>
                </a:schemeClr>
              </a:solidFill>
              <a:latin typeface="Century Gothic" panose="020B0502020202020204" pitchFamily="34" charset="0"/>
            </a:endParaRPr>
          </a:p>
        </p:txBody>
      </p:sp>
      <p:sp>
        <p:nvSpPr>
          <p:cNvPr id="17" name="TextBox 16">
            <a:extLst>
              <a:ext uri="{FF2B5EF4-FFF2-40B4-BE49-F238E27FC236}">
                <a16:creationId xmlns:a16="http://schemas.microsoft.com/office/drawing/2014/main" id="{D0984607-7FAB-48C0-A9D2-7F91161C1C2F}"/>
              </a:ext>
            </a:extLst>
          </p:cNvPr>
          <p:cNvSpPr txBox="1"/>
          <p:nvPr/>
        </p:nvSpPr>
        <p:spPr>
          <a:xfrm>
            <a:off x="584199" y="3697723"/>
            <a:ext cx="1816101" cy="584775"/>
          </a:xfrm>
          <a:prstGeom prst="rect">
            <a:avLst/>
          </a:prstGeom>
          <a:noFill/>
        </p:spPr>
        <p:txBody>
          <a:bodyPr wrap="square" rtlCol="0">
            <a:spAutoFit/>
          </a:bodyPr>
          <a:lstStyle/>
          <a:p>
            <a:pPr algn="ctr"/>
            <a:r>
              <a:rPr lang="en-GB" sz="3200" b="1" dirty="0">
                <a:solidFill>
                  <a:srgbClr val="121328"/>
                </a:solidFill>
                <a:latin typeface="Century Gothic" panose="020B0502020202020204" pitchFamily="34" charset="0"/>
              </a:rPr>
              <a:t>23,170</a:t>
            </a:r>
            <a:endParaRPr lang="en-ZA" sz="3200" b="1" dirty="0">
              <a:solidFill>
                <a:srgbClr val="121328"/>
              </a:solidFill>
              <a:latin typeface="Century Gothic" panose="020B0502020202020204" pitchFamily="34" charset="0"/>
            </a:endParaRPr>
          </a:p>
        </p:txBody>
      </p:sp>
      <p:sp>
        <p:nvSpPr>
          <p:cNvPr id="18" name="TextBox 17">
            <a:extLst>
              <a:ext uri="{FF2B5EF4-FFF2-40B4-BE49-F238E27FC236}">
                <a16:creationId xmlns:a16="http://schemas.microsoft.com/office/drawing/2014/main" id="{ED43BB98-5580-4B83-A328-786E2896A62B}"/>
              </a:ext>
            </a:extLst>
          </p:cNvPr>
          <p:cNvSpPr txBox="1"/>
          <p:nvPr/>
        </p:nvSpPr>
        <p:spPr>
          <a:xfrm>
            <a:off x="584199" y="4220943"/>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Responses</a:t>
            </a:r>
            <a:endParaRPr lang="en-ZA" sz="1000" dirty="0">
              <a:solidFill>
                <a:schemeClr val="tx1">
                  <a:lumMod val="50000"/>
                  <a:lumOff val="50000"/>
                </a:schemeClr>
              </a:solidFill>
              <a:latin typeface="Century Gothic" panose="020B0502020202020204" pitchFamily="34" charset="0"/>
            </a:endParaRPr>
          </a:p>
        </p:txBody>
      </p:sp>
      <p:sp>
        <p:nvSpPr>
          <p:cNvPr id="19" name="TextBox 18">
            <a:extLst>
              <a:ext uri="{FF2B5EF4-FFF2-40B4-BE49-F238E27FC236}">
                <a16:creationId xmlns:a16="http://schemas.microsoft.com/office/drawing/2014/main" id="{31530CD2-2721-4735-B059-E46DC3BE0E47}"/>
              </a:ext>
            </a:extLst>
          </p:cNvPr>
          <p:cNvSpPr txBox="1"/>
          <p:nvPr/>
        </p:nvSpPr>
        <p:spPr>
          <a:xfrm>
            <a:off x="584199" y="5590444"/>
            <a:ext cx="1816101" cy="584775"/>
          </a:xfrm>
          <a:prstGeom prst="rect">
            <a:avLst/>
          </a:prstGeom>
          <a:noFill/>
        </p:spPr>
        <p:txBody>
          <a:bodyPr wrap="square" rtlCol="0">
            <a:spAutoFit/>
          </a:bodyPr>
          <a:lstStyle/>
          <a:p>
            <a:pPr algn="ctr"/>
            <a:r>
              <a:rPr lang="en-GB" sz="3200" b="1" dirty="0">
                <a:solidFill>
                  <a:srgbClr val="121328"/>
                </a:solidFill>
                <a:latin typeface="Century Gothic" panose="020B0502020202020204" pitchFamily="34" charset="0"/>
              </a:rPr>
              <a:t>91%</a:t>
            </a:r>
            <a:endParaRPr lang="en-ZA" sz="3200" b="1" dirty="0">
              <a:solidFill>
                <a:srgbClr val="121328"/>
              </a:solidFill>
              <a:latin typeface="Century Gothic" panose="020B0502020202020204" pitchFamily="34" charset="0"/>
            </a:endParaRPr>
          </a:p>
        </p:txBody>
      </p:sp>
      <p:sp>
        <p:nvSpPr>
          <p:cNvPr id="20" name="TextBox 19">
            <a:extLst>
              <a:ext uri="{FF2B5EF4-FFF2-40B4-BE49-F238E27FC236}">
                <a16:creationId xmlns:a16="http://schemas.microsoft.com/office/drawing/2014/main" id="{2933CE3E-2834-460F-AD02-0D3C1CA9C350}"/>
              </a:ext>
            </a:extLst>
          </p:cNvPr>
          <p:cNvSpPr txBox="1"/>
          <p:nvPr/>
        </p:nvSpPr>
        <p:spPr>
          <a:xfrm>
            <a:off x="584199" y="6113664"/>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 Rate</a:t>
            </a:r>
            <a:endParaRPr lang="en-ZA" sz="1000" dirty="0">
              <a:solidFill>
                <a:schemeClr val="tx1">
                  <a:lumMod val="50000"/>
                  <a:lumOff val="50000"/>
                </a:schemeClr>
              </a:solidFill>
              <a:latin typeface="Century Gothic" panose="020B0502020202020204" pitchFamily="34" charset="0"/>
            </a:endParaRPr>
          </a:p>
        </p:txBody>
      </p:sp>
      <p:sp>
        <p:nvSpPr>
          <p:cNvPr id="36" name="Rectangle: Rounded Corners 35">
            <a:extLst>
              <a:ext uri="{FF2B5EF4-FFF2-40B4-BE49-F238E27FC236}">
                <a16:creationId xmlns:a16="http://schemas.microsoft.com/office/drawing/2014/main" id="{51E00FD6-03E5-43B2-AE8F-BAF52B143FC9}"/>
              </a:ext>
            </a:extLst>
          </p:cNvPr>
          <p:cNvSpPr/>
          <p:nvPr/>
        </p:nvSpPr>
        <p:spPr>
          <a:xfrm>
            <a:off x="2628899" y="1181100"/>
            <a:ext cx="10439400" cy="5812027"/>
          </a:xfrm>
          <a:prstGeom prst="roundRect">
            <a:avLst>
              <a:gd name="adj" fmla="val 42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1" name="Rectangle: Rounded Corners 40">
            <a:extLst>
              <a:ext uri="{FF2B5EF4-FFF2-40B4-BE49-F238E27FC236}">
                <a16:creationId xmlns:a16="http://schemas.microsoft.com/office/drawing/2014/main" id="{F83D0376-7137-47B8-8366-6E6DDB3DB4F0}"/>
              </a:ext>
            </a:extLst>
          </p:cNvPr>
          <p:cNvSpPr/>
          <p:nvPr/>
        </p:nvSpPr>
        <p:spPr>
          <a:xfrm>
            <a:off x="2893295" y="3289352"/>
            <a:ext cx="2608580" cy="1598979"/>
          </a:xfrm>
          <a:prstGeom prst="roundRect">
            <a:avLst>
              <a:gd name="adj" fmla="val 13921"/>
            </a:avLst>
          </a:prstGeom>
          <a:solidFill>
            <a:srgbClr val="ED0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latin typeface="Century Gothic" panose="020B0502020202020204" pitchFamily="34" charset="0"/>
              </a:rPr>
              <a:t>CHANGE</a:t>
            </a:r>
            <a:br>
              <a:rPr lang="en-GB" b="1" dirty="0">
                <a:latin typeface="Century Gothic" panose="020B0502020202020204" pitchFamily="34" charset="0"/>
              </a:rPr>
            </a:br>
            <a:r>
              <a:rPr lang="en-GB" b="1" dirty="0">
                <a:latin typeface="Century Gothic" panose="020B0502020202020204" pitchFamily="34" charset="0"/>
              </a:rPr>
              <a:t>READINESS</a:t>
            </a:r>
          </a:p>
          <a:p>
            <a:pPr algn="ctr"/>
            <a:r>
              <a:rPr lang="en-GB" sz="1100" dirty="0">
                <a:latin typeface="Century Gothic" panose="020B0502020202020204" pitchFamily="34" charset="0"/>
              </a:rPr>
              <a:t>6 Questions</a:t>
            </a:r>
            <a:br>
              <a:rPr lang="en-GB" sz="1100" dirty="0">
                <a:latin typeface="Century Gothic" panose="020B0502020202020204" pitchFamily="34" charset="0"/>
              </a:rPr>
            </a:br>
            <a:r>
              <a:rPr lang="en-GB" sz="1100" dirty="0">
                <a:latin typeface="Century Gothic" panose="020B0502020202020204" pitchFamily="34" charset="0"/>
              </a:rPr>
              <a:t>Rating Scale: 1-5</a:t>
            </a:r>
            <a:endParaRPr lang="en-ZA" sz="1100" dirty="0">
              <a:latin typeface="Century Gothic" panose="020B0502020202020204" pitchFamily="34" charset="0"/>
            </a:endParaRPr>
          </a:p>
        </p:txBody>
      </p:sp>
      <p:grpSp>
        <p:nvGrpSpPr>
          <p:cNvPr id="71" name="Group 70">
            <a:extLst>
              <a:ext uri="{FF2B5EF4-FFF2-40B4-BE49-F238E27FC236}">
                <a16:creationId xmlns:a16="http://schemas.microsoft.com/office/drawing/2014/main" id="{9E16E14E-05D0-4D33-9F16-35D984C082F4}"/>
              </a:ext>
            </a:extLst>
          </p:cNvPr>
          <p:cNvGrpSpPr/>
          <p:nvPr/>
        </p:nvGrpSpPr>
        <p:grpSpPr>
          <a:xfrm>
            <a:off x="5609249" y="3323711"/>
            <a:ext cx="2036611" cy="1564773"/>
            <a:chOff x="4036875" y="1305058"/>
            <a:chExt cx="2036611" cy="1564773"/>
          </a:xfrm>
        </p:grpSpPr>
        <p:sp>
          <p:nvSpPr>
            <p:cNvPr id="72" name="Rectangle: Rounded Corners 71">
              <a:extLst>
                <a:ext uri="{FF2B5EF4-FFF2-40B4-BE49-F238E27FC236}">
                  <a16:creationId xmlns:a16="http://schemas.microsoft.com/office/drawing/2014/main" id="{A9D5CDF0-5BAE-497F-8AFF-F8E7D6E6FAD1}"/>
                </a:ext>
              </a:extLst>
            </p:cNvPr>
            <p:cNvSpPr/>
            <p:nvPr/>
          </p:nvSpPr>
          <p:spPr>
            <a:xfrm>
              <a:off x="4036875" y="1305058"/>
              <a:ext cx="2036611" cy="1564773"/>
            </a:xfrm>
            <a:prstGeom prst="roundRect">
              <a:avLst>
                <a:gd name="adj" fmla="val 10469"/>
              </a:avLst>
            </a:prstGeom>
            <a:solidFill>
              <a:schemeClr val="bg1"/>
            </a:solidFill>
            <a:ln>
              <a:solidFill>
                <a:srgbClr val="ED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73" name="TextBox 72">
              <a:extLst>
                <a:ext uri="{FF2B5EF4-FFF2-40B4-BE49-F238E27FC236}">
                  <a16:creationId xmlns:a16="http://schemas.microsoft.com/office/drawing/2014/main" id="{5A1C3233-533C-4B74-9520-E86E6C717898}"/>
                </a:ext>
              </a:extLst>
            </p:cNvPr>
            <p:cNvSpPr txBox="1"/>
            <p:nvPr/>
          </p:nvSpPr>
          <p:spPr>
            <a:xfrm>
              <a:off x="4042072" y="2031394"/>
              <a:ext cx="2026218" cy="584775"/>
            </a:xfrm>
            <a:prstGeom prst="rect">
              <a:avLst/>
            </a:prstGeom>
            <a:noFill/>
          </p:spPr>
          <p:txBody>
            <a:bodyPr wrap="square" rtlCol="0">
              <a:spAutoFit/>
            </a:bodyPr>
            <a:lstStyle/>
            <a:p>
              <a:pPr algn="ctr"/>
              <a:r>
                <a:rPr lang="en-GB" sz="3200" b="1" dirty="0">
                  <a:solidFill>
                    <a:srgbClr val="121328"/>
                  </a:solidFill>
                  <a:latin typeface="Century Gothic" panose="020B0502020202020204" pitchFamily="34" charset="0"/>
                </a:rPr>
                <a:t>4.86</a:t>
              </a:r>
              <a:r>
                <a:rPr lang="en-GB" sz="1600" b="1" dirty="0">
                  <a:solidFill>
                    <a:srgbClr val="121328"/>
                  </a:solidFill>
                  <a:latin typeface="Century Gothic" panose="020B0502020202020204" pitchFamily="34" charset="0"/>
                </a:rPr>
                <a:t>/5</a:t>
              </a:r>
              <a:endParaRPr lang="en-ZA" sz="1600" b="1" dirty="0">
                <a:solidFill>
                  <a:srgbClr val="121328"/>
                </a:solidFill>
                <a:latin typeface="Century Gothic" panose="020B0502020202020204" pitchFamily="34" charset="0"/>
              </a:endParaRPr>
            </a:p>
          </p:txBody>
        </p:sp>
        <p:sp>
          <p:nvSpPr>
            <p:cNvPr id="74" name="TextBox 73">
              <a:extLst>
                <a:ext uri="{FF2B5EF4-FFF2-40B4-BE49-F238E27FC236}">
                  <a16:creationId xmlns:a16="http://schemas.microsoft.com/office/drawing/2014/main" id="{6350C8E5-F7BE-4EA8-8E04-5FFED151CBFA}"/>
                </a:ext>
              </a:extLst>
            </p:cNvPr>
            <p:cNvSpPr txBox="1"/>
            <p:nvPr/>
          </p:nvSpPr>
          <p:spPr>
            <a:xfrm>
              <a:off x="4042072" y="1582955"/>
              <a:ext cx="2026218" cy="400110"/>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Overall Change Readiness</a:t>
              </a:r>
              <a:br>
                <a:rPr lang="en-GB" sz="1000" dirty="0">
                  <a:solidFill>
                    <a:schemeClr val="tx1">
                      <a:lumMod val="50000"/>
                      <a:lumOff val="50000"/>
                    </a:schemeClr>
                  </a:solidFill>
                  <a:latin typeface="Century Gothic" panose="020B0502020202020204" pitchFamily="34" charset="0"/>
                </a:rPr>
              </a:br>
              <a:r>
                <a:rPr lang="en-GB" sz="1000" dirty="0">
                  <a:solidFill>
                    <a:schemeClr val="tx1">
                      <a:lumMod val="50000"/>
                      <a:lumOff val="50000"/>
                    </a:schemeClr>
                  </a:solidFill>
                  <a:latin typeface="Century Gothic" panose="020B0502020202020204" pitchFamily="34" charset="0"/>
                </a:rPr>
                <a:t>Average Score</a:t>
              </a:r>
              <a:endParaRPr lang="en-ZA" sz="1000" dirty="0">
                <a:solidFill>
                  <a:schemeClr val="tx1">
                    <a:lumMod val="50000"/>
                    <a:lumOff val="50000"/>
                  </a:schemeClr>
                </a:solidFill>
                <a:latin typeface="Century Gothic" panose="020B0502020202020204" pitchFamily="34" charset="0"/>
              </a:endParaRPr>
            </a:p>
          </p:txBody>
        </p:sp>
      </p:grpSp>
      <p:grpSp>
        <p:nvGrpSpPr>
          <p:cNvPr id="75" name="Group 74">
            <a:extLst>
              <a:ext uri="{FF2B5EF4-FFF2-40B4-BE49-F238E27FC236}">
                <a16:creationId xmlns:a16="http://schemas.microsoft.com/office/drawing/2014/main" id="{2792EEAF-1ACB-4B6D-944C-169C5B001BEF}"/>
              </a:ext>
            </a:extLst>
          </p:cNvPr>
          <p:cNvGrpSpPr/>
          <p:nvPr/>
        </p:nvGrpSpPr>
        <p:grpSpPr>
          <a:xfrm>
            <a:off x="8157181" y="3323559"/>
            <a:ext cx="2041808" cy="1564773"/>
            <a:chOff x="6182591" y="1305058"/>
            <a:chExt cx="2041808" cy="1564773"/>
          </a:xfrm>
        </p:grpSpPr>
        <p:sp>
          <p:nvSpPr>
            <p:cNvPr id="76" name="Rectangle: Rounded Corners 75">
              <a:extLst>
                <a:ext uri="{FF2B5EF4-FFF2-40B4-BE49-F238E27FC236}">
                  <a16:creationId xmlns:a16="http://schemas.microsoft.com/office/drawing/2014/main" id="{067218D6-6FAF-4BB9-97BB-0184D3EB9FAF}"/>
                </a:ext>
              </a:extLst>
            </p:cNvPr>
            <p:cNvSpPr/>
            <p:nvPr/>
          </p:nvSpPr>
          <p:spPr>
            <a:xfrm>
              <a:off x="6182591" y="1305058"/>
              <a:ext cx="2036611" cy="1564773"/>
            </a:xfrm>
            <a:prstGeom prst="roundRect">
              <a:avLst>
                <a:gd name="adj" fmla="val 1046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77" name="TextBox 76">
              <a:extLst>
                <a:ext uri="{FF2B5EF4-FFF2-40B4-BE49-F238E27FC236}">
                  <a16:creationId xmlns:a16="http://schemas.microsoft.com/office/drawing/2014/main" id="{132DA45F-E029-4038-ABAE-51A0541F5396}"/>
                </a:ext>
              </a:extLst>
            </p:cNvPr>
            <p:cNvSpPr txBox="1"/>
            <p:nvPr/>
          </p:nvSpPr>
          <p:spPr>
            <a:xfrm>
              <a:off x="6187788" y="2189072"/>
              <a:ext cx="2026218" cy="523220"/>
            </a:xfrm>
            <a:prstGeom prst="rect">
              <a:avLst/>
            </a:prstGeom>
            <a:noFill/>
          </p:spPr>
          <p:txBody>
            <a:bodyPr wrap="square" rtlCol="0">
              <a:spAutoFit/>
            </a:bodyPr>
            <a:lstStyle/>
            <a:p>
              <a:pPr algn="ctr"/>
              <a:r>
                <a:rPr lang="en-GB" sz="2800" b="1" dirty="0">
                  <a:solidFill>
                    <a:srgbClr val="121328"/>
                  </a:solidFill>
                  <a:latin typeface="Century Gothic" panose="020B0502020202020204" pitchFamily="34" charset="0"/>
                </a:rPr>
                <a:t>4.8</a:t>
              </a:r>
              <a:r>
                <a:rPr lang="en-GB" sz="1600" b="1" dirty="0">
                  <a:solidFill>
                    <a:srgbClr val="121328"/>
                  </a:solidFill>
                  <a:latin typeface="Century Gothic" panose="020B0502020202020204" pitchFamily="34" charset="0"/>
                </a:rPr>
                <a:t>/5</a:t>
              </a:r>
              <a:endParaRPr lang="en-ZA" sz="1600" b="1" dirty="0">
                <a:solidFill>
                  <a:srgbClr val="121328"/>
                </a:solidFill>
                <a:latin typeface="Century Gothic" panose="020B0502020202020204" pitchFamily="34" charset="0"/>
              </a:endParaRPr>
            </a:p>
          </p:txBody>
        </p:sp>
        <p:sp>
          <p:nvSpPr>
            <p:cNvPr id="78" name="TextBox 77">
              <a:extLst>
                <a:ext uri="{FF2B5EF4-FFF2-40B4-BE49-F238E27FC236}">
                  <a16:creationId xmlns:a16="http://schemas.microsoft.com/office/drawing/2014/main" id="{8C7EA4E4-ADF9-428C-9B3F-66A4360D6647}"/>
                </a:ext>
              </a:extLst>
            </p:cNvPr>
            <p:cNvSpPr txBox="1"/>
            <p:nvPr/>
          </p:nvSpPr>
          <p:spPr>
            <a:xfrm>
              <a:off x="6187788" y="1471454"/>
              <a:ext cx="2026218" cy="230832"/>
            </a:xfrm>
            <a:prstGeom prst="rect">
              <a:avLst/>
            </a:prstGeom>
            <a:noFill/>
          </p:spPr>
          <p:txBody>
            <a:bodyPr wrap="square" rtlCol="0">
              <a:spAutoFit/>
            </a:bodyPr>
            <a:lstStyle/>
            <a:p>
              <a:pPr algn="ctr"/>
              <a:r>
                <a:rPr lang="en-US" sz="900" b="1" dirty="0">
                  <a:solidFill>
                    <a:srgbClr val="121328"/>
                  </a:solidFill>
                  <a:latin typeface="Century Gothic" panose="020B0502020202020204" pitchFamily="34" charset="0"/>
                </a:rPr>
                <a:t>Top Scoring Statement:</a:t>
              </a:r>
              <a:endParaRPr lang="en-ZA" sz="900" b="1" dirty="0">
                <a:solidFill>
                  <a:srgbClr val="121328"/>
                </a:solidFill>
                <a:latin typeface="Century Gothic" panose="020B0502020202020204" pitchFamily="34" charset="0"/>
              </a:endParaRPr>
            </a:p>
          </p:txBody>
        </p:sp>
        <p:sp>
          <p:nvSpPr>
            <p:cNvPr id="79" name="TextBox 78">
              <a:extLst>
                <a:ext uri="{FF2B5EF4-FFF2-40B4-BE49-F238E27FC236}">
                  <a16:creationId xmlns:a16="http://schemas.microsoft.com/office/drawing/2014/main" id="{67893499-9CA3-4D81-8255-970E469C920D}"/>
                </a:ext>
              </a:extLst>
            </p:cNvPr>
            <p:cNvSpPr txBox="1"/>
            <p:nvPr/>
          </p:nvSpPr>
          <p:spPr>
            <a:xfrm>
              <a:off x="6198181" y="1717041"/>
              <a:ext cx="2026218" cy="553998"/>
            </a:xfrm>
            <a:prstGeom prst="rect">
              <a:avLst/>
            </a:prstGeom>
            <a:noFill/>
          </p:spPr>
          <p:txBody>
            <a:bodyPr wrap="square" rtlCol="0">
              <a:spAutoFit/>
            </a:bodyPr>
            <a:lstStyle/>
            <a:p>
              <a:pPr algn="ctr"/>
              <a:r>
                <a:rPr lang="en-US" sz="1000" dirty="0">
                  <a:solidFill>
                    <a:schemeClr val="tx1">
                      <a:lumMod val="50000"/>
                      <a:lumOff val="50000"/>
                    </a:schemeClr>
                  </a:solidFill>
                  <a:latin typeface="Century Gothic" panose="020B0502020202020204" pitchFamily="34" charset="0"/>
                </a:rPr>
                <a:t>I understand why the change is occurring and how it is aligned to the broader …</a:t>
              </a:r>
              <a:endParaRPr lang="en-ZA" sz="1000" dirty="0">
                <a:solidFill>
                  <a:schemeClr val="tx1">
                    <a:lumMod val="50000"/>
                    <a:lumOff val="50000"/>
                  </a:schemeClr>
                </a:solidFill>
                <a:latin typeface="Century Gothic" panose="020B0502020202020204" pitchFamily="34" charset="0"/>
              </a:endParaRPr>
            </a:p>
          </p:txBody>
        </p:sp>
      </p:grpSp>
      <p:grpSp>
        <p:nvGrpSpPr>
          <p:cNvPr id="80" name="Group 79">
            <a:extLst>
              <a:ext uri="{FF2B5EF4-FFF2-40B4-BE49-F238E27FC236}">
                <a16:creationId xmlns:a16="http://schemas.microsoft.com/office/drawing/2014/main" id="{45E2726B-9877-41C7-903D-4283B6FB1A0B}"/>
              </a:ext>
            </a:extLst>
          </p:cNvPr>
          <p:cNvGrpSpPr/>
          <p:nvPr/>
        </p:nvGrpSpPr>
        <p:grpSpPr>
          <a:xfrm>
            <a:off x="10302897" y="3323559"/>
            <a:ext cx="2045273" cy="1564773"/>
            <a:chOff x="8328307" y="1305058"/>
            <a:chExt cx="2045273" cy="1564773"/>
          </a:xfrm>
        </p:grpSpPr>
        <p:sp>
          <p:nvSpPr>
            <p:cNvPr id="81" name="Rectangle: Rounded Corners 80">
              <a:extLst>
                <a:ext uri="{FF2B5EF4-FFF2-40B4-BE49-F238E27FC236}">
                  <a16:creationId xmlns:a16="http://schemas.microsoft.com/office/drawing/2014/main" id="{B377CF4C-3A36-4557-8342-7D1A6512F024}"/>
                </a:ext>
              </a:extLst>
            </p:cNvPr>
            <p:cNvSpPr/>
            <p:nvPr/>
          </p:nvSpPr>
          <p:spPr>
            <a:xfrm>
              <a:off x="8331772" y="1305058"/>
              <a:ext cx="2036611" cy="1564773"/>
            </a:xfrm>
            <a:prstGeom prst="roundRect">
              <a:avLst>
                <a:gd name="adj" fmla="val 1046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82" name="TextBox 81">
              <a:extLst>
                <a:ext uri="{FF2B5EF4-FFF2-40B4-BE49-F238E27FC236}">
                  <a16:creationId xmlns:a16="http://schemas.microsoft.com/office/drawing/2014/main" id="{C7EDD376-9AE7-48DB-B177-C9CF3123BAEB}"/>
                </a:ext>
              </a:extLst>
            </p:cNvPr>
            <p:cNvSpPr txBox="1"/>
            <p:nvPr/>
          </p:nvSpPr>
          <p:spPr>
            <a:xfrm>
              <a:off x="8336969" y="2189072"/>
              <a:ext cx="2026218" cy="523220"/>
            </a:xfrm>
            <a:prstGeom prst="rect">
              <a:avLst/>
            </a:prstGeom>
            <a:noFill/>
          </p:spPr>
          <p:txBody>
            <a:bodyPr wrap="square" rtlCol="0">
              <a:spAutoFit/>
            </a:bodyPr>
            <a:lstStyle/>
            <a:p>
              <a:pPr algn="ctr"/>
              <a:r>
                <a:rPr lang="en-GB" sz="2800" b="1" dirty="0">
                  <a:solidFill>
                    <a:srgbClr val="121328"/>
                  </a:solidFill>
                  <a:latin typeface="Century Gothic" panose="020B0502020202020204" pitchFamily="34" charset="0"/>
                </a:rPr>
                <a:t>2.6</a:t>
              </a:r>
              <a:r>
                <a:rPr lang="en-GB" sz="1600" b="1" dirty="0">
                  <a:solidFill>
                    <a:srgbClr val="121328"/>
                  </a:solidFill>
                  <a:latin typeface="Century Gothic" panose="020B0502020202020204" pitchFamily="34" charset="0"/>
                </a:rPr>
                <a:t>/5</a:t>
              </a:r>
              <a:endParaRPr lang="en-ZA" sz="1600" b="1" dirty="0">
                <a:solidFill>
                  <a:srgbClr val="121328"/>
                </a:solidFill>
                <a:latin typeface="Century Gothic" panose="020B0502020202020204" pitchFamily="34" charset="0"/>
              </a:endParaRPr>
            </a:p>
          </p:txBody>
        </p:sp>
        <p:sp>
          <p:nvSpPr>
            <p:cNvPr id="83" name="TextBox 82">
              <a:extLst>
                <a:ext uri="{FF2B5EF4-FFF2-40B4-BE49-F238E27FC236}">
                  <a16:creationId xmlns:a16="http://schemas.microsoft.com/office/drawing/2014/main" id="{65E12ECB-CB45-460E-8EE6-A1D1C9CDF9E6}"/>
                </a:ext>
              </a:extLst>
            </p:cNvPr>
            <p:cNvSpPr txBox="1"/>
            <p:nvPr/>
          </p:nvSpPr>
          <p:spPr>
            <a:xfrm>
              <a:off x="8336969" y="1471454"/>
              <a:ext cx="2026218" cy="230832"/>
            </a:xfrm>
            <a:prstGeom prst="rect">
              <a:avLst/>
            </a:prstGeom>
            <a:noFill/>
          </p:spPr>
          <p:txBody>
            <a:bodyPr wrap="square" rtlCol="0">
              <a:spAutoFit/>
            </a:bodyPr>
            <a:lstStyle/>
            <a:p>
              <a:pPr algn="ctr"/>
              <a:r>
                <a:rPr lang="en-US" sz="900" b="1" dirty="0">
                  <a:solidFill>
                    <a:srgbClr val="121328"/>
                  </a:solidFill>
                  <a:latin typeface="Century Gothic" panose="020B0502020202020204" pitchFamily="34" charset="0"/>
                </a:rPr>
                <a:t>Bottom Scoring Statement:</a:t>
              </a:r>
              <a:endParaRPr lang="en-ZA" sz="900" b="1" dirty="0">
                <a:solidFill>
                  <a:srgbClr val="121328"/>
                </a:solidFill>
                <a:latin typeface="Century Gothic" panose="020B0502020202020204" pitchFamily="34" charset="0"/>
              </a:endParaRPr>
            </a:p>
          </p:txBody>
        </p:sp>
        <p:sp>
          <p:nvSpPr>
            <p:cNvPr id="84" name="TextBox 83">
              <a:extLst>
                <a:ext uri="{FF2B5EF4-FFF2-40B4-BE49-F238E27FC236}">
                  <a16:creationId xmlns:a16="http://schemas.microsoft.com/office/drawing/2014/main" id="{93C27D39-42A2-4FCA-901B-84A1A4E598EC}"/>
                </a:ext>
              </a:extLst>
            </p:cNvPr>
            <p:cNvSpPr txBox="1"/>
            <p:nvPr/>
          </p:nvSpPr>
          <p:spPr>
            <a:xfrm>
              <a:off x="8328307" y="1694167"/>
              <a:ext cx="2045273" cy="400110"/>
            </a:xfrm>
            <a:prstGeom prst="rect">
              <a:avLst/>
            </a:prstGeom>
            <a:noFill/>
          </p:spPr>
          <p:txBody>
            <a:bodyPr wrap="square" rtlCol="0">
              <a:spAutoFit/>
            </a:bodyPr>
            <a:lstStyle/>
            <a:p>
              <a:pPr algn="ctr"/>
              <a:r>
                <a:rPr lang="en-US" sz="1000" dirty="0">
                  <a:solidFill>
                    <a:schemeClr val="tx1">
                      <a:lumMod val="50000"/>
                      <a:lumOff val="50000"/>
                    </a:schemeClr>
                  </a:solidFill>
                  <a:latin typeface="Century Gothic" panose="020B0502020202020204" pitchFamily="34" charset="0"/>
                </a:rPr>
                <a:t>I am aware of the basic scope of what is changing</a:t>
              </a:r>
              <a:endParaRPr lang="en-ZA" sz="1000" dirty="0">
                <a:solidFill>
                  <a:schemeClr val="tx1">
                    <a:lumMod val="50000"/>
                    <a:lumOff val="50000"/>
                  </a:schemeClr>
                </a:solidFill>
                <a:latin typeface="Century Gothic" panose="020B0502020202020204" pitchFamily="34" charset="0"/>
              </a:endParaRPr>
            </a:p>
          </p:txBody>
        </p:sp>
      </p:grpSp>
    </p:spTree>
    <p:extLst>
      <p:ext uri="{BB962C8B-B14F-4D97-AF65-F5344CB8AC3E}">
        <p14:creationId xmlns:p14="http://schemas.microsoft.com/office/powerpoint/2010/main" val="911810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F8ECA-0ED3-C5C9-8606-085AABAA5431}"/>
              </a:ext>
            </a:extLst>
          </p:cNvPr>
          <p:cNvSpPr>
            <a:spLocks noGrp="1"/>
          </p:cNvSpPr>
          <p:nvPr>
            <p:ph type="title"/>
          </p:nvPr>
        </p:nvSpPr>
        <p:spPr>
          <a:xfrm>
            <a:off x="1264889" y="3950108"/>
            <a:ext cx="6734829" cy="447328"/>
          </a:xfrm>
        </p:spPr>
        <p:txBody>
          <a:bodyPr>
            <a:normAutofit fontScale="90000"/>
          </a:bodyPr>
          <a:lstStyle/>
          <a:p>
            <a:r>
              <a:rPr lang="en-ZA" dirty="0"/>
              <a:t>2025 PULSE CULTURE SURVEY</a:t>
            </a:r>
          </a:p>
        </p:txBody>
      </p:sp>
      <p:sp>
        <p:nvSpPr>
          <p:cNvPr id="3" name="Text Placeholder 2">
            <a:extLst>
              <a:ext uri="{FF2B5EF4-FFF2-40B4-BE49-F238E27FC236}">
                <a16:creationId xmlns:a16="http://schemas.microsoft.com/office/drawing/2014/main" id="{F61D1952-B648-2A5E-84F1-540CD261E36D}"/>
              </a:ext>
            </a:extLst>
          </p:cNvPr>
          <p:cNvSpPr>
            <a:spLocks noGrp="1"/>
          </p:cNvSpPr>
          <p:nvPr>
            <p:ph type="body" sz="quarter" idx="10"/>
          </p:nvPr>
        </p:nvSpPr>
        <p:spPr/>
        <p:txBody>
          <a:bodyPr/>
          <a:lstStyle/>
          <a:p>
            <a:r>
              <a:rPr lang="en-ZA" dirty="0"/>
              <a:t>CHANGE READINESS</a:t>
            </a:r>
          </a:p>
        </p:txBody>
      </p:sp>
    </p:spTree>
    <p:extLst>
      <p:ext uri="{BB962C8B-B14F-4D97-AF65-F5344CB8AC3E}">
        <p14:creationId xmlns:p14="http://schemas.microsoft.com/office/powerpoint/2010/main" val="3474788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4B3E380D-1D7E-C86B-7826-F9DCCD522934}"/>
              </a:ext>
            </a:extLst>
          </p:cNvPr>
          <p:cNvSpPr>
            <a:spLocks noGrp="1"/>
          </p:cNvSpPr>
          <p:nvPr>
            <p:ph type="body" sz="quarter" idx="15"/>
          </p:nvPr>
        </p:nvSpPr>
        <p:spPr>
          <a:xfrm>
            <a:off x="572322" y="1531815"/>
            <a:ext cx="7464910" cy="5472155"/>
          </a:xfrm>
        </p:spPr>
        <p:txBody>
          <a:bodyPr/>
          <a:lstStyle/>
          <a:p>
            <a:pPr>
              <a:buClr>
                <a:srgbClr val="50B800"/>
              </a:buClr>
            </a:pPr>
            <a:r>
              <a:rPr lang="en-US" dirty="0">
                <a:solidFill>
                  <a:schemeClr val="tx1">
                    <a:lumMod val="75000"/>
                    <a:lumOff val="25000"/>
                  </a:schemeClr>
                </a:solidFill>
                <a:latin typeface="Century Gothic"/>
              </a:rPr>
              <a:t>In the survey, we have used a 5-point scale where people have indicated their agreement with the statements. What is of utmost importance in interpreting the results of the survey is the anchoring of the scale. </a:t>
            </a:r>
          </a:p>
          <a:p>
            <a:pPr>
              <a:buClr>
                <a:srgbClr val="50B800"/>
              </a:buClr>
            </a:pPr>
            <a:r>
              <a:rPr lang="en-US" dirty="0">
                <a:solidFill>
                  <a:schemeClr val="tx1">
                    <a:lumMod val="75000"/>
                    <a:lumOff val="25000"/>
                  </a:schemeClr>
                </a:solidFill>
                <a:latin typeface="Century Gothic"/>
              </a:rPr>
              <a:t>A score of 3 or 3.5 may sound good, but if you plot it on the scale, and read the anchor of the scale it will read “Neutral”. If people are neutral that they are engaged, it actually means that they are not fully engaged and that there is work to be done about it.</a:t>
            </a:r>
          </a:p>
          <a:p>
            <a:pPr>
              <a:buClr>
                <a:srgbClr val="50B800"/>
              </a:buClr>
            </a:pPr>
            <a:endParaRPr lang="en-US" dirty="0">
              <a:solidFill>
                <a:schemeClr val="tx1">
                  <a:lumMod val="75000"/>
                  <a:lumOff val="25000"/>
                </a:schemeClr>
              </a:solidFill>
              <a:latin typeface="Century Gothic"/>
            </a:endParaRPr>
          </a:p>
          <a:p>
            <a:pPr>
              <a:buClr>
                <a:srgbClr val="50B800"/>
              </a:buClr>
            </a:pPr>
            <a:r>
              <a:rPr lang="en-US" dirty="0">
                <a:solidFill>
                  <a:schemeClr val="tx1">
                    <a:lumMod val="75000"/>
                    <a:lumOff val="25000"/>
                  </a:schemeClr>
                </a:solidFill>
                <a:latin typeface="Century Gothic"/>
              </a:rPr>
              <a:t>As an organisation we should be aiming for scores of 4-5.</a:t>
            </a:r>
            <a:endParaRPr lang="en-US" dirty="0"/>
          </a:p>
          <a:p>
            <a:endParaRPr lang="en-ZA" dirty="0"/>
          </a:p>
          <a:p>
            <a:endParaRPr lang="en-ZA" dirty="0"/>
          </a:p>
        </p:txBody>
      </p:sp>
      <p:graphicFrame>
        <p:nvGraphicFramePr>
          <p:cNvPr id="4" name="Table 3"/>
          <p:cNvGraphicFramePr>
            <a:graphicFrameLocks noGrp="1"/>
          </p:cNvGraphicFramePr>
          <p:nvPr>
            <p:extLst>
              <p:ext uri="{D42A27DB-BD31-4B8C-83A1-F6EECF244321}">
                <p14:modId xmlns:p14="http://schemas.microsoft.com/office/powerpoint/2010/main" val="1098189658"/>
              </p:ext>
            </p:extLst>
          </p:nvPr>
        </p:nvGraphicFramePr>
        <p:xfrm>
          <a:off x="895755" y="4344770"/>
          <a:ext cx="6575308" cy="2045208"/>
        </p:xfrm>
        <a:graphic>
          <a:graphicData uri="http://schemas.openxmlformats.org/drawingml/2006/table">
            <a:tbl>
              <a:tblPr firstRow="1" bandRow="1">
                <a:tableStyleId>{5C22544A-7EE6-4342-B048-85BDC9FD1C3A}</a:tableStyleId>
              </a:tblPr>
              <a:tblGrid>
                <a:gridCol w="1315061">
                  <a:extLst>
                    <a:ext uri="{9D8B030D-6E8A-4147-A177-3AD203B41FA5}">
                      <a16:colId xmlns:a16="http://schemas.microsoft.com/office/drawing/2014/main" val="20000"/>
                    </a:ext>
                  </a:extLst>
                </a:gridCol>
                <a:gridCol w="1315061">
                  <a:extLst>
                    <a:ext uri="{9D8B030D-6E8A-4147-A177-3AD203B41FA5}">
                      <a16:colId xmlns:a16="http://schemas.microsoft.com/office/drawing/2014/main" val="20001"/>
                    </a:ext>
                  </a:extLst>
                </a:gridCol>
                <a:gridCol w="1636182">
                  <a:extLst>
                    <a:ext uri="{9D8B030D-6E8A-4147-A177-3AD203B41FA5}">
                      <a16:colId xmlns:a16="http://schemas.microsoft.com/office/drawing/2014/main" val="20002"/>
                    </a:ext>
                  </a:extLst>
                </a:gridCol>
                <a:gridCol w="1176396">
                  <a:extLst>
                    <a:ext uri="{9D8B030D-6E8A-4147-A177-3AD203B41FA5}">
                      <a16:colId xmlns:a16="http://schemas.microsoft.com/office/drawing/2014/main" val="20003"/>
                    </a:ext>
                  </a:extLst>
                </a:gridCol>
                <a:gridCol w="1132608">
                  <a:extLst>
                    <a:ext uri="{9D8B030D-6E8A-4147-A177-3AD203B41FA5}">
                      <a16:colId xmlns:a16="http://schemas.microsoft.com/office/drawing/2014/main" val="20004"/>
                    </a:ext>
                  </a:extLst>
                </a:gridCol>
              </a:tblGrid>
              <a:tr h="335280">
                <a:tc gridSpan="2">
                  <a:txBody>
                    <a:bodyPr/>
                    <a:lstStyle/>
                    <a:p>
                      <a:pPr algn="ctr"/>
                      <a:r>
                        <a:rPr lang="en-US" sz="1200" dirty="0">
                          <a:latin typeface="Century Gothic" panose="020B0502020202020204" pitchFamily="34" charset="0"/>
                        </a:rPr>
                        <a:t>RED</a:t>
                      </a:r>
                      <a:endParaRPr lang="en-ZA" sz="1200" dirty="0">
                        <a:latin typeface="Century Gothic" panose="020B0502020202020204" pitchFamily="34" charset="0"/>
                      </a:endParaRPr>
                    </a:p>
                  </a:txBody>
                  <a:tcPr marL="134112" marR="134112" marT="67056" marB="67056">
                    <a:lnR w="12700" cap="flat" cmpd="sng" algn="ctr">
                      <a:solidFill>
                        <a:srgbClr val="FF0000"/>
                      </a:solidFill>
                      <a:prstDash val="solid"/>
                      <a:round/>
                      <a:headEnd type="none" w="med" len="med"/>
                      <a:tailEnd type="none" w="med" len="med"/>
                    </a:lnR>
                    <a:solidFill>
                      <a:srgbClr val="FF0000"/>
                    </a:solidFill>
                  </a:tcPr>
                </a:tc>
                <a:tc hMerge="1">
                  <a:txBody>
                    <a:bodyPr/>
                    <a:lstStyle/>
                    <a:p>
                      <a:endParaRPr lang="en-ZA"/>
                    </a:p>
                  </a:txBody>
                  <a:tcPr/>
                </a:tc>
                <a:tc>
                  <a:txBody>
                    <a:bodyPr/>
                    <a:lstStyle/>
                    <a:p>
                      <a:pPr algn="ctr"/>
                      <a:r>
                        <a:rPr lang="en-US" sz="1200" dirty="0">
                          <a:latin typeface="Century Gothic" panose="020B0502020202020204" pitchFamily="34" charset="0"/>
                        </a:rPr>
                        <a:t>AMBER</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rgbClr val="FFC000"/>
                      </a:solidFill>
                      <a:prstDash val="solid"/>
                      <a:round/>
                      <a:headEnd type="none" w="med" len="med"/>
                      <a:tailEnd type="none" w="med" len="med"/>
                    </a:lnR>
                    <a:solidFill>
                      <a:srgbClr val="FFC000"/>
                    </a:solidFill>
                  </a:tcPr>
                </a:tc>
                <a:tc gridSpan="2">
                  <a:txBody>
                    <a:bodyPr/>
                    <a:lstStyle/>
                    <a:p>
                      <a:pPr algn="ctr"/>
                      <a:r>
                        <a:rPr lang="en-US" sz="1200" dirty="0">
                          <a:latin typeface="Century Gothic" panose="020B0502020202020204" pitchFamily="34" charset="0"/>
                        </a:rPr>
                        <a:t>GREEN</a:t>
                      </a: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solidFill>
                      <a:srgbClr val="92D050"/>
                    </a:solidFill>
                  </a:tcPr>
                </a:tc>
                <a:tc hMerge="1">
                  <a:txBody>
                    <a:bodyPr/>
                    <a:lstStyle/>
                    <a:p>
                      <a:pPr algn="ct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solidFill>
                      <a:srgbClr val="92D050"/>
                    </a:solidFill>
                  </a:tcPr>
                </a:tc>
                <a:extLst>
                  <a:ext uri="{0D108BD9-81ED-4DB2-BD59-A6C34878D82A}">
                    <a16:rowId xmlns:a16="http://schemas.microsoft.com/office/drawing/2014/main" val="10000"/>
                  </a:ext>
                </a:extLst>
              </a:tr>
              <a:tr h="335280">
                <a:tc>
                  <a:txBody>
                    <a:bodyPr/>
                    <a:lstStyle/>
                    <a:p>
                      <a:pPr algn="ctr"/>
                      <a:r>
                        <a:rPr lang="en-US" sz="1200" dirty="0">
                          <a:latin typeface="Century Gothic" panose="020B0502020202020204" pitchFamily="34" charset="0"/>
                        </a:rPr>
                        <a:t>1</a:t>
                      </a:r>
                      <a:endParaRPr lang="en-ZA" sz="1200" dirty="0">
                        <a:latin typeface="Century Gothic" panose="020B0502020202020204" pitchFamily="34" charset="0"/>
                      </a:endParaRPr>
                    </a:p>
                  </a:txBody>
                  <a:tcPr marL="134112" marR="134112" marT="67056" marB="67056">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2</a:t>
                      </a:r>
                      <a:endParaRPr lang="en-ZA" sz="1200" dirty="0">
                        <a:latin typeface="Century Gothic" panose="020B0502020202020204" pitchFamily="34" charset="0"/>
                      </a:endParaRPr>
                    </a:p>
                  </a:txBody>
                  <a:tcPr marL="134112" marR="134112" marT="67056" marB="67056">
                    <a:lnR w="12700" cap="flat" cmpd="sng" algn="ctr">
                      <a:solidFill>
                        <a:srgbClr val="FF0000"/>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3</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rgbClr val="92D050"/>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4</a:t>
                      </a:r>
                      <a:endParaRPr lang="en-ZA" sz="1200" dirty="0">
                        <a:latin typeface="Century Gothic" panose="020B0502020202020204" pitchFamily="34" charset="0"/>
                      </a:endParaRPr>
                    </a:p>
                  </a:txBody>
                  <a:tcPr marL="134112" marR="134112" marT="67056" marB="67056">
                    <a:lnL w="12700" cap="flat" cmpd="sng" algn="ctr">
                      <a:solidFill>
                        <a:srgbClr val="92D050"/>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5</a:t>
                      </a:r>
                      <a:endParaRPr lang="en-ZA" sz="1200" dirty="0">
                        <a:latin typeface="Century Gothic" panose="020B0502020202020204" pitchFamily="34" charset="0"/>
                      </a:endParaRPr>
                    </a:p>
                  </a:txBody>
                  <a:tcPr marL="134112" marR="134112" marT="67056" marB="67056">
                    <a:lnL w="12700" cap="flat" cmpd="sng" algn="ctr">
                      <a:solidFill>
                        <a:schemeClr val="bg1"/>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extLst>
                  <a:ext uri="{0D108BD9-81ED-4DB2-BD59-A6C34878D82A}">
                    <a16:rowId xmlns:a16="http://schemas.microsoft.com/office/drawing/2014/main" val="10001"/>
                  </a:ext>
                </a:extLst>
              </a:tr>
              <a:tr h="536448">
                <a:tc>
                  <a:txBody>
                    <a:bodyPr/>
                    <a:lstStyle/>
                    <a:p>
                      <a:pPr algn="ctr"/>
                      <a:r>
                        <a:rPr lang="en-US" sz="1200" dirty="0">
                          <a:latin typeface="Century Gothic" panose="020B0502020202020204" pitchFamily="34" charset="0"/>
                        </a:rPr>
                        <a:t>Strongly</a:t>
                      </a:r>
                      <a:r>
                        <a:rPr lang="en-US" sz="1200" baseline="0" dirty="0">
                          <a:latin typeface="Century Gothic" panose="020B0502020202020204" pitchFamily="34" charset="0"/>
                        </a:rPr>
                        <a:t> Disagree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Disagree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GB" sz="1200" dirty="0">
                          <a:latin typeface="Century Gothic" panose="020B0502020202020204" pitchFamily="34" charset="0"/>
                        </a:rPr>
                        <a:t>Neutral</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rgbClr val="92D05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Agree</a:t>
                      </a:r>
                      <a:endParaRPr lang="en-ZA" sz="1200" dirty="0">
                        <a:latin typeface="Century Gothic" panose="020B0502020202020204" pitchFamily="34" charset="0"/>
                      </a:endParaRPr>
                    </a:p>
                  </a:txBody>
                  <a:tcPr marL="134112" marR="134112" marT="67056" marB="67056">
                    <a:lnL w="12700" cap="flat" cmpd="sng" algn="ctr">
                      <a:solidFill>
                        <a:srgbClr val="92D05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latin typeface="Century Gothic" panose="020B0502020202020204" pitchFamily="34" charset="0"/>
                        </a:rPr>
                        <a:t>Strongly 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10002"/>
                  </a:ext>
                </a:extLst>
              </a:tr>
              <a:tr h="838200">
                <a:tc gridSpan="2">
                  <a:txBody>
                    <a:bodyPr/>
                    <a:lstStyle/>
                    <a:p>
                      <a:pPr algn="ctr"/>
                      <a:r>
                        <a:rPr lang="en-US" sz="1200" b="1">
                          <a:solidFill>
                            <a:schemeClr val="bg1"/>
                          </a:solidFill>
                          <a:latin typeface="Century Gothic" panose="020B0502020202020204" pitchFamily="34" charset="0"/>
                        </a:rPr>
                        <a:t>Requires immediate attention and management</a:t>
                      </a:r>
                      <a:endParaRPr lang="en-ZA" sz="1200" b="1">
                        <a:solidFill>
                          <a:schemeClr val="bg1"/>
                        </a:solidFill>
                        <a:latin typeface="Century Gothic" panose="020B0502020202020204" pitchFamily="34" charset="0"/>
                      </a:endParaRPr>
                    </a:p>
                  </a:txBody>
                  <a:tcPr marL="134112" marR="134112" marT="67056" marB="67056" anchor="ctr">
                    <a:lnR w="12700" cap="flat" cmpd="sng" algn="ctr">
                      <a:solidFill>
                        <a:srgbClr val="FF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0000"/>
                    </a:solidFill>
                  </a:tcPr>
                </a:tc>
                <a:tc hMerge="1">
                  <a:txBody>
                    <a:bodyPr/>
                    <a:lstStyle/>
                    <a:p>
                      <a:pPr algn="ctr"/>
                      <a:endParaRPr lang="en-ZA" sz="1200"/>
                    </a:p>
                  </a:txBody>
                  <a:tcPr/>
                </a:tc>
                <a:tc>
                  <a:txBody>
                    <a:bodyPr/>
                    <a:lstStyle/>
                    <a:p>
                      <a:pPr algn="ctr"/>
                      <a:r>
                        <a:rPr lang="en-US" sz="1200" b="1" dirty="0">
                          <a:solidFill>
                            <a:schemeClr val="bg1"/>
                          </a:solidFill>
                          <a:latin typeface="Century Gothic" panose="020B0502020202020204" pitchFamily="34" charset="0"/>
                        </a:rPr>
                        <a:t>Work required</a:t>
                      </a: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0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C000"/>
                    </a:solidFill>
                  </a:tcPr>
                </a:tc>
                <a:tc gridSpan="2">
                  <a:txBody>
                    <a:bodyPr/>
                    <a:lstStyle/>
                    <a:p>
                      <a:pPr algn="ctr"/>
                      <a:r>
                        <a:rPr lang="en-US" sz="1200" b="1" dirty="0">
                          <a:solidFill>
                            <a:schemeClr val="bg1"/>
                          </a:solidFill>
                          <a:latin typeface="Century Gothic" panose="020B0502020202020204" pitchFamily="34" charset="0"/>
                        </a:rPr>
                        <a:t>A positive and strong result</a:t>
                      </a: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C000"/>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92D050"/>
                    </a:solidFill>
                  </a:tcPr>
                </a:tc>
                <a:tc hMerge="1">
                  <a:txBody>
                    <a:bodyPr/>
                    <a:lstStyle/>
                    <a:p>
                      <a:pPr algn="ct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C000"/>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92D050"/>
                    </a:solidFill>
                  </a:tcPr>
                </a:tc>
                <a:extLst>
                  <a:ext uri="{0D108BD9-81ED-4DB2-BD59-A6C34878D82A}">
                    <a16:rowId xmlns:a16="http://schemas.microsoft.com/office/drawing/2014/main" val="10003"/>
                  </a:ext>
                </a:extLst>
              </a:tr>
            </a:tbl>
          </a:graphicData>
        </a:graphic>
      </p:graphicFrame>
      <p:sp>
        <p:nvSpPr>
          <p:cNvPr id="18" name="Title 1">
            <a:extLst>
              <a:ext uri="{FF2B5EF4-FFF2-40B4-BE49-F238E27FC236}">
                <a16:creationId xmlns:a16="http://schemas.microsoft.com/office/drawing/2014/main" id="{D6A49818-E021-D6A9-FDBB-88BE21E2DFDD}"/>
              </a:ext>
            </a:extLst>
          </p:cNvPr>
          <p:cNvSpPr txBox="1">
            <a:spLocks/>
          </p:cNvSpPr>
          <p:nvPr/>
        </p:nvSpPr>
        <p:spPr>
          <a:xfrm>
            <a:off x="1303614" y="391708"/>
            <a:ext cx="11437026" cy="560403"/>
          </a:xfrm>
          <a:prstGeom prst="rect">
            <a:avLst/>
          </a:prstGeom>
        </p:spPr>
        <p:txBody>
          <a:bodyPr anchor="ctr">
            <a:noAutofit/>
          </a:bodyPr>
          <a:lstStyle>
            <a:lvl1pPr algn="l" defTabSz="914451" rtl="0" eaLnBrk="1" latinLnBrk="0" hangingPunct="1">
              <a:lnSpc>
                <a:spcPct val="90000"/>
              </a:lnSpc>
              <a:spcBef>
                <a:spcPct val="0"/>
              </a:spcBef>
              <a:buNone/>
              <a:defRPr sz="4400" b="1" kern="1200">
                <a:solidFill>
                  <a:schemeClr val="tx2"/>
                </a:solidFill>
                <a:latin typeface="Century Gothic" panose="020B0502020202020204" pitchFamily="34" charset="0"/>
                <a:ea typeface="+mj-ea"/>
                <a:cs typeface="+mj-cs"/>
              </a:defRPr>
            </a:lvl1pPr>
          </a:lstStyle>
          <a:p>
            <a:r>
              <a:rPr lang="en-US" sz="3740" dirty="0"/>
              <a:t>THE 5-POINT SCORING SCALE</a:t>
            </a:r>
            <a:endParaRPr lang="en-ZA" sz="3740" dirty="0"/>
          </a:p>
        </p:txBody>
      </p:sp>
      <p:sp>
        <p:nvSpPr>
          <p:cNvPr id="25" name="Slide Number Placeholder 3">
            <a:extLst>
              <a:ext uri="{FF2B5EF4-FFF2-40B4-BE49-F238E27FC236}">
                <a16:creationId xmlns:a16="http://schemas.microsoft.com/office/drawing/2014/main" id="{7BDE0F43-4EB5-5C8F-6CB2-B808D35D9ADB}"/>
              </a:ext>
            </a:extLst>
          </p:cNvPr>
          <p:cNvSpPr txBox="1">
            <a:spLocks/>
          </p:cNvSpPr>
          <p:nvPr/>
        </p:nvSpPr>
        <p:spPr>
          <a:xfrm>
            <a:off x="543255" y="7146607"/>
            <a:ext cx="475065" cy="401638"/>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08627B-F915-7940-8094-9D0FE90F5C69}" type="slidenum">
              <a:rPr lang="en-US" sz="1177">
                <a:solidFill>
                  <a:srgbClr val="139D91"/>
                </a:solidFill>
              </a:rPr>
              <a:pPr algn="ctr"/>
              <a:t>5</a:t>
            </a:fld>
            <a:endParaRPr lang="en-US" sz="1177">
              <a:solidFill>
                <a:srgbClr val="139D91"/>
              </a:solidFill>
            </a:endParaRPr>
          </a:p>
        </p:txBody>
      </p:sp>
    </p:spTree>
    <p:extLst>
      <p:ext uri="{BB962C8B-B14F-4D97-AF65-F5344CB8AC3E}">
        <p14:creationId xmlns:p14="http://schemas.microsoft.com/office/powerpoint/2010/main" val="142153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BD6857-784C-478F-86CC-B90128F053E2}"/>
              </a:ext>
            </a:extLst>
          </p:cNvPr>
          <p:cNvSpPr>
            <a:spLocks noGrp="1"/>
          </p:cNvSpPr>
          <p:nvPr>
            <p:ph type="title"/>
          </p:nvPr>
        </p:nvSpPr>
        <p:spPr/>
        <p:txBody>
          <a:bodyPr/>
          <a:lstStyle/>
          <a:p>
            <a:r>
              <a:rPr lang="en-GB" dirty="0"/>
              <a:t>OML CHANGE READINESS SCORE TRENDS</a:t>
            </a:r>
            <a:endParaRPr lang="en-ZA" dirty="0"/>
          </a:p>
        </p:txBody>
      </p:sp>
      <p:sp>
        <p:nvSpPr>
          <p:cNvPr id="23" name="Footer Placeholder 22">
            <a:extLst>
              <a:ext uri="{FF2B5EF4-FFF2-40B4-BE49-F238E27FC236}">
                <a16:creationId xmlns:a16="http://schemas.microsoft.com/office/drawing/2014/main" id="{A22E0455-2ADC-49E3-A277-434C49DBCBCA}"/>
              </a:ext>
            </a:extLst>
          </p:cNvPr>
          <p:cNvSpPr>
            <a:spLocks noGrp="1"/>
          </p:cNvSpPr>
          <p:nvPr>
            <p:ph type="ftr" sz="quarter" idx="3"/>
          </p:nvPr>
        </p:nvSpPr>
        <p:spPr/>
        <p:txBody>
          <a:bodyPr/>
          <a:lstStyle/>
          <a:p>
            <a:r>
              <a:rPr lang="en-US"/>
              <a:t>Powered by Pure Survey (Pty) Ltd © 2025. Rights Reserved</a:t>
            </a:r>
            <a:endParaRPr lang="en-ZA" dirty="0"/>
          </a:p>
        </p:txBody>
      </p:sp>
      <p:sp>
        <p:nvSpPr>
          <p:cNvPr id="24" name="Slide Number Placeholder 23">
            <a:extLst>
              <a:ext uri="{FF2B5EF4-FFF2-40B4-BE49-F238E27FC236}">
                <a16:creationId xmlns:a16="http://schemas.microsoft.com/office/drawing/2014/main" id="{057DE543-7E0B-44E3-BC9A-A9C84D9991DF}"/>
              </a:ext>
            </a:extLst>
          </p:cNvPr>
          <p:cNvSpPr>
            <a:spLocks noGrp="1"/>
          </p:cNvSpPr>
          <p:nvPr>
            <p:ph type="sldNum" sz="quarter" idx="4"/>
          </p:nvPr>
        </p:nvSpPr>
        <p:spPr/>
        <p:txBody>
          <a:bodyPr/>
          <a:lstStyle/>
          <a:p>
            <a:fld id="{1345FC39-5FD0-4CFC-A4C3-931930B79EEA}" type="slidenum">
              <a:rPr lang="en-ZA" smtClean="0"/>
              <a:pPr/>
              <a:t>6</a:t>
            </a:fld>
            <a:endParaRPr lang="en-ZA" dirty="0"/>
          </a:p>
        </p:txBody>
      </p:sp>
      <p:sp>
        <p:nvSpPr>
          <p:cNvPr id="4" name="Rectangle: Rounded Corners 3">
            <a:extLst>
              <a:ext uri="{FF2B5EF4-FFF2-40B4-BE49-F238E27FC236}">
                <a16:creationId xmlns:a16="http://schemas.microsoft.com/office/drawing/2014/main" id="{DCB720EE-343D-4D33-B8D5-94691084EBA9}"/>
              </a:ext>
            </a:extLst>
          </p:cNvPr>
          <p:cNvSpPr/>
          <p:nvPr/>
        </p:nvSpPr>
        <p:spPr>
          <a:xfrm>
            <a:off x="405245" y="1097461"/>
            <a:ext cx="12663056" cy="5758181"/>
          </a:xfrm>
          <a:prstGeom prst="roundRect">
            <a:avLst>
              <a:gd name="adj" fmla="val 96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1" name="Rectangle 20">
            <a:extLst>
              <a:ext uri="{FF2B5EF4-FFF2-40B4-BE49-F238E27FC236}">
                <a16:creationId xmlns:a16="http://schemas.microsoft.com/office/drawing/2014/main" id="{589FD9CD-B9A8-47F2-9F66-067403DE1788}"/>
              </a:ext>
            </a:extLst>
          </p:cNvPr>
          <p:cNvSpPr/>
          <p:nvPr/>
        </p:nvSpPr>
        <p:spPr>
          <a:xfrm>
            <a:off x="4981477" y="1265579"/>
            <a:ext cx="3510592" cy="2804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400" b="1" dirty="0">
                <a:solidFill>
                  <a:srgbClr val="282828"/>
                </a:solidFill>
                <a:latin typeface="Century Gothic" panose="020B0502020202020204" pitchFamily="34" charset="0"/>
              </a:rPr>
              <a:t>Average Score by Question</a:t>
            </a:r>
            <a:endParaRPr lang="en-ZA" sz="1400" b="1" dirty="0">
              <a:solidFill>
                <a:srgbClr val="282828"/>
              </a:solidFill>
              <a:latin typeface="Century Gothic" panose="020B0502020202020204" pitchFamily="34" charset="0"/>
            </a:endParaRPr>
          </a:p>
        </p:txBody>
      </p:sp>
      <p:sp>
        <p:nvSpPr>
          <p:cNvPr id="25" name="TextBox 24">
            <a:extLst>
              <a:ext uri="{FF2B5EF4-FFF2-40B4-BE49-F238E27FC236}">
                <a16:creationId xmlns:a16="http://schemas.microsoft.com/office/drawing/2014/main" id="{AB0B6DD5-5A37-4D73-B74D-72398F74439E}"/>
              </a:ext>
            </a:extLst>
          </p:cNvPr>
          <p:cNvSpPr txBox="1"/>
          <p:nvPr/>
        </p:nvSpPr>
        <p:spPr>
          <a:xfrm>
            <a:off x="601749" y="1540095"/>
            <a:ext cx="2213264" cy="707886"/>
          </a:xfrm>
          <a:prstGeom prst="rect">
            <a:avLst/>
          </a:prstGeom>
          <a:noFill/>
        </p:spPr>
        <p:txBody>
          <a:bodyPr wrap="square" rtlCol="0">
            <a:spAutoFit/>
          </a:bodyPr>
          <a:lstStyle/>
          <a:p>
            <a:pPr algn="ctr"/>
            <a:r>
              <a:rPr lang="en-GB" sz="2000" b="1" dirty="0">
                <a:solidFill>
                  <a:srgbClr val="ED0080"/>
                </a:solidFill>
                <a:latin typeface="Century Gothic" panose="020B0502020202020204" pitchFamily="34" charset="0"/>
              </a:rPr>
              <a:t>OML </a:t>
            </a:r>
          </a:p>
          <a:p>
            <a:pPr algn="ctr"/>
            <a:r>
              <a:rPr lang="en-GB" sz="2000" b="1" dirty="0">
                <a:solidFill>
                  <a:srgbClr val="ED0080"/>
                </a:solidFill>
                <a:latin typeface="Century Gothic" panose="020B0502020202020204" pitchFamily="34" charset="0"/>
              </a:rPr>
              <a:t>RESPONSE RATE</a:t>
            </a:r>
            <a:endParaRPr lang="en-ZA" sz="2000" b="1" dirty="0">
              <a:solidFill>
                <a:srgbClr val="ED0080"/>
              </a:solidFill>
              <a:latin typeface="Century Gothic" panose="020B0502020202020204" pitchFamily="34" charset="0"/>
            </a:endParaRPr>
          </a:p>
        </p:txBody>
      </p:sp>
      <p:sp>
        <p:nvSpPr>
          <p:cNvPr id="28" name="TextBox 27">
            <a:extLst>
              <a:ext uri="{FF2B5EF4-FFF2-40B4-BE49-F238E27FC236}">
                <a16:creationId xmlns:a16="http://schemas.microsoft.com/office/drawing/2014/main" id="{6D8AF3F1-B306-4E55-859D-C233823B495F}"/>
              </a:ext>
            </a:extLst>
          </p:cNvPr>
          <p:cNvSpPr txBox="1"/>
          <p:nvPr/>
        </p:nvSpPr>
        <p:spPr>
          <a:xfrm>
            <a:off x="759921" y="2887379"/>
            <a:ext cx="1816101" cy="400110"/>
          </a:xfrm>
          <a:prstGeom prst="rect">
            <a:avLst/>
          </a:prstGeom>
          <a:noFill/>
        </p:spPr>
        <p:txBody>
          <a:bodyPr wrap="square" rtlCol="0">
            <a:spAutoFit/>
          </a:bodyPr>
          <a:lstStyle/>
          <a:p>
            <a:pPr algn="ctr"/>
            <a:r>
              <a:rPr lang="en-GB" sz="2000" b="1" dirty="0">
                <a:solidFill>
                  <a:srgbClr val="282828"/>
                </a:solidFill>
                <a:latin typeface="Century Gothic" panose="020B0502020202020204" pitchFamily="34" charset="0"/>
              </a:rPr>
              <a:t>25,345</a:t>
            </a:r>
            <a:endParaRPr lang="en-ZA" sz="2000" b="1" dirty="0">
              <a:solidFill>
                <a:srgbClr val="282828"/>
              </a:solidFill>
              <a:latin typeface="Century Gothic" panose="020B0502020202020204" pitchFamily="34" charset="0"/>
            </a:endParaRPr>
          </a:p>
        </p:txBody>
      </p:sp>
      <p:sp>
        <p:nvSpPr>
          <p:cNvPr id="30" name="TextBox 29">
            <a:extLst>
              <a:ext uri="{FF2B5EF4-FFF2-40B4-BE49-F238E27FC236}">
                <a16:creationId xmlns:a16="http://schemas.microsoft.com/office/drawing/2014/main" id="{7452EA71-FD1D-4E0F-B209-217DF037B365}"/>
              </a:ext>
            </a:extLst>
          </p:cNvPr>
          <p:cNvSpPr txBox="1"/>
          <p:nvPr/>
        </p:nvSpPr>
        <p:spPr>
          <a:xfrm>
            <a:off x="759921" y="3235533"/>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Employee Headcount</a:t>
            </a:r>
            <a:endParaRPr lang="en-ZA" sz="1000" dirty="0">
              <a:solidFill>
                <a:schemeClr val="tx1">
                  <a:lumMod val="50000"/>
                  <a:lumOff val="50000"/>
                </a:schemeClr>
              </a:solidFill>
              <a:latin typeface="Century Gothic" panose="020B0502020202020204" pitchFamily="34" charset="0"/>
            </a:endParaRPr>
          </a:p>
        </p:txBody>
      </p:sp>
      <p:sp>
        <p:nvSpPr>
          <p:cNvPr id="31" name="TextBox 30">
            <a:extLst>
              <a:ext uri="{FF2B5EF4-FFF2-40B4-BE49-F238E27FC236}">
                <a16:creationId xmlns:a16="http://schemas.microsoft.com/office/drawing/2014/main" id="{7DB502A8-F138-40D2-8CB6-9F3A079190E3}"/>
              </a:ext>
            </a:extLst>
          </p:cNvPr>
          <p:cNvSpPr txBox="1"/>
          <p:nvPr/>
        </p:nvSpPr>
        <p:spPr>
          <a:xfrm>
            <a:off x="759921" y="4144189"/>
            <a:ext cx="1816101" cy="400110"/>
          </a:xfrm>
          <a:prstGeom prst="rect">
            <a:avLst/>
          </a:prstGeom>
          <a:noFill/>
        </p:spPr>
        <p:txBody>
          <a:bodyPr wrap="square" rtlCol="0">
            <a:spAutoFit/>
          </a:bodyPr>
          <a:lstStyle/>
          <a:p>
            <a:pPr algn="ctr"/>
            <a:r>
              <a:rPr lang="en-GB" sz="2000" b="1" dirty="0">
                <a:solidFill>
                  <a:srgbClr val="121328"/>
                </a:solidFill>
                <a:latin typeface="Century Gothic" panose="020B0502020202020204" pitchFamily="34" charset="0"/>
              </a:rPr>
              <a:t>23,170</a:t>
            </a:r>
            <a:endParaRPr lang="en-ZA" sz="2000" b="1" dirty="0">
              <a:solidFill>
                <a:srgbClr val="121328"/>
              </a:solidFill>
              <a:latin typeface="Century Gothic" panose="020B0502020202020204" pitchFamily="34" charset="0"/>
            </a:endParaRPr>
          </a:p>
        </p:txBody>
      </p:sp>
      <p:sp>
        <p:nvSpPr>
          <p:cNvPr id="32" name="TextBox 31">
            <a:extLst>
              <a:ext uri="{FF2B5EF4-FFF2-40B4-BE49-F238E27FC236}">
                <a16:creationId xmlns:a16="http://schemas.microsoft.com/office/drawing/2014/main" id="{8C096CCF-3CE7-4463-A35B-33A288F3663E}"/>
              </a:ext>
            </a:extLst>
          </p:cNvPr>
          <p:cNvSpPr txBox="1"/>
          <p:nvPr/>
        </p:nvSpPr>
        <p:spPr>
          <a:xfrm>
            <a:off x="759921" y="4438929"/>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Responses</a:t>
            </a:r>
            <a:endParaRPr lang="en-ZA" sz="1000" dirty="0">
              <a:solidFill>
                <a:schemeClr val="tx1">
                  <a:lumMod val="50000"/>
                  <a:lumOff val="50000"/>
                </a:schemeClr>
              </a:solidFill>
              <a:latin typeface="Century Gothic" panose="020B0502020202020204" pitchFamily="34" charset="0"/>
            </a:endParaRPr>
          </a:p>
        </p:txBody>
      </p:sp>
      <p:sp>
        <p:nvSpPr>
          <p:cNvPr id="33" name="TextBox 32">
            <a:extLst>
              <a:ext uri="{FF2B5EF4-FFF2-40B4-BE49-F238E27FC236}">
                <a16:creationId xmlns:a16="http://schemas.microsoft.com/office/drawing/2014/main" id="{1183BF5E-C7E4-4771-8A8A-96A2173CFE75}"/>
              </a:ext>
            </a:extLst>
          </p:cNvPr>
          <p:cNvSpPr txBox="1"/>
          <p:nvPr/>
        </p:nvSpPr>
        <p:spPr>
          <a:xfrm>
            <a:off x="759921" y="5347585"/>
            <a:ext cx="1816101" cy="400110"/>
          </a:xfrm>
          <a:prstGeom prst="rect">
            <a:avLst/>
          </a:prstGeom>
          <a:noFill/>
        </p:spPr>
        <p:txBody>
          <a:bodyPr wrap="square" rtlCol="0">
            <a:spAutoFit/>
          </a:bodyPr>
          <a:lstStyle/>
          <a:p>
            <a:pPr algn="ctr"/>
            <a:r>
              <a:rPr lang="en-GB" sz="2000" b="1" dirty="0">
                <a:solidFill>
                  <a:srgbClr val="121328"/>
                </a:solidFill>
                <a:latin typeface="Century Gothic" panose="020B0502020202020204" pitchFamily="34" charset="0"/>
              </a:rPr>
              <a:t>91%</a:t>
            </a:r>
            <a:endParaRPr lang="en-ZA" sz="2000" b="1" dirty="0">
              <a:solidFill>
                <a:srgbClr val="121328"/>
              </a:solidFill>
              <a:latin typeface="Century Gothic" panose="020B0502020202020204" pitchFamily="34" charset="0"/>
            </a:endParaRPr>
          </a:p>
        </p:txBody>
      </p:sp>
      <p:sp>
        <p:nvSpPr>
          <p:cNvPr id="34" name="TextBox 33">
            <a:extLst>
              <a:ext uri="{FF2B5EF4-FFF2-40B4-BE49-F238E27FC236}">
                <a16:creationId xmlns:a16="http://schemas.microsoft.com/office/drawing/2014/main" id="{D146AD10-3BE2-452D-89CD-C6DE21691102}"/>
              </a:ext>
            </a:extLst>
          </p:cNvPr>
          <p:cNvSpPr txBox="1"/>
          <p:nvPr/>
        </p:nvSpPr>
        <p:spPr>
          <a:xfrm>
            <a:off x="759921" y="5695740"/>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 Rate</a:t>
            </a:r>
            <a:endParaRPr lang="en-ZA" sz="1000" dirty="0">
              <a:solidFill>
                <a:schemeClr val="tx1">
                  <a:lumMod val="50000"/>
                  <a:lumOff val="50000"/>
                </a:schemeClr>
              </a:solidFill>
              <a:latin typeface="Century Gothic" panose="020B0502020202020204" pitchFamily="34" charset="0"/>
            </a:endParaRPr>
          </a:p>
        </p:txBody>
      </p:sp>
      <p:graphicFrame>
        <p:nvGraphicFramePr>
          <p:cNvPr id="18" name="Chart 17">
            <a:extLst>
              <a:ext uri="{FF2B5EF4-FFF2-40B4-BE49-F238E27FC236}">
                <a16:creationId xmlns:a16="http://schemas.microsoft.com/office/drawing/2014/main" id="{F98FB0C3-B3AE-48F2-A8B9-78537E02B58E}"/>
              </a:ext>
            </a:extLst>
          </p:cNvPr>
          <p:cNvGraphicFramePr/>
          <p:nvPr>
            <p:extLst>
              <p:ext uri="{D42A27DB-BD31-4B8C-83A1-F6EECF244321}">
                <p14:modId xmlns:p14="http://schemas.microsoft.com/office/powerpoint/2010/main" val="218728529"/>
              </p:ext>
            </p:extLst>
          </p:nvPr>
        </p:nvGraphicFramePr>
        <p:xfrm>
          <a:off x="3011517" y="2214323"/>
          <a:ext cx="2213264" cy="3727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5" name="Chart 34">
            <a:extLst>
              <a:ext uri="{FF2B5EF4-FFF2-40B4-BE49-F238E27FC236}">
                <a16:creationId xmlns:a16="http://schemas.microsoft.com/office/drawing/2014/main" id="{B1613895-83FC-4765-BC35-102ED964F410}"/>
              </a:ext>
            </a:extLst>
          </p:cNvPr>
          <p:cNvGraphicFramePr/>
          <p:nvPr>
            <p:extLst>
              <p:ext uri="{D42A27DB-BD31-4B8C-83A1-F6EECF244321}">
                <p14:modId xmlns:p14="http://schemas.microsoft.com/office/powerpoint/2010/main" val="3490795099"/>
              </p:ext>
            </p:extLst>
          </p:nvPr>
        </p:nvGraphicFramePr>
        <p:xfrm>
          <a:off x="5565863" y="2216564"/>
          <a:ext cx="7372466" cy="40566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06940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7" name="Table 6">
            <a:extLst>
              <a:ext uri="{FF2B5EF4-FFF2-40B4-BE49-F238E27FC236}">
                <a16:creationId xmlns:a16="http://schemas.microsoft.com/office/drawing/2014/main" id="{C738D9A9-8334-434E-AA35-1333A8C82136}"/>
              </a:ext>
            </a:extLst>
          </p:cNvPr>
          <p:cNvGraphicFramePr>
            <a:graphicFrameLocks noGrp="1"/>
          </p:cNvGraphicFramePr>
          <p:nvPr>
            <p:extLst>
              <p:ext uri="{D42A27DB-BD31-4B8C-83A1-F6EECF244321}">
                <p14:modId xmlns:p14="http://schemas.microsoft.com/office/powerpoint/2010/main" val="1847493303"/>
              </p:ext>
            </p:extLst>
          </p:nvPr>
        </p:nvGraphicFramePr>
        <p:xfrm>
          <a:off x="438292" y="837369"/>
          <a:ext cx="12551939" cy="5645385"/>
        </p:xfrm>
        <a:graphic>
          <a:graphicData uri="http://schemas.openxmlformats.org/drawingml/2006/table">
            <a:tbl>
              <a:tblPr firstRow="1" bandRow="1">
                <a:tableStyleId>{9D7B26C5-4107-4FEC-AEDC-1716B250A1EF}</a:tableStyleId>
              </a:tblPr>
              <a:tblGrid>
                <a:gridCol w="2461630">
                  <a:extLst>
                    <a:ext uri="{9D8B030D-6E8A-4147-A177-3AD203B41FA5}">
                      <a16:colId xmlns:a16="http://schemas.microsoft.com/office/drawing/2014/main" val="3659110487"/>
                    </a:ext>
                  </a:extLst>
                </a:gridCol>
                <a:gridCol w="1018309">
                  <a:extLst>
                    <a:ext uri="{9D8B030D-6E8A-4147-A177-3AD203B41FA5}">
                      <a16:colId xmlns:a16="http://schemas.microsoft.com/office/drawing/2014/main" val="802232224"/>
                    </a:ext>
                  </a:extLst>
                </a:gridCol>
                <a:gridCol w="1512000">
                  <a:extLst>
                    <a:ext uri="{9D8B030D-6E8A-4147-A177-3AD203B41FA5}">
                      <a16:colId xmlns:a16="http://schemas.microsoft.com/office/drawing/2014/main" val="1340252599"/>
                    </a:ext>
                  </a:extLst>
                </a:gridCol>
                <a:gridCol w="1512000">
                  <a:extLst>
                    <a:ext uri="{9D8B030D-6E8A-4147-A177-3AD203B41FA5}">
                      <a16:colId xmlns:a16="http://schemas.microsoft.com/office/drawing/2014/main" val="2930096084"/>
                    </a:ext>
                  </a:extLst>
                </a:gridCol>
                <a:gridCol w="1512000">
                  <a:extLst>
                    <a:ext uri="{9D8B030D-6E8A-4147-A177-3AD203B41FA5}">
                      <a16:colId xmlns:a16="http://schemas.microsoft.com/office/drawing/2014/main" val="3023804039"/>
                    </a:ext>
                  </a:extLst>
                </a:gridCol>
                <a:gridCol w="1512000">
                  <a:extLst>
                    <a:ext uri="{9D8B030D-6E8A-4147-A177-3AD203B41FA5}">
                      <a16:colId xmlns:a16="http://schemas.microsoft.com/office/drawing/2014/main" val="851956339"/>
                    </a:ext>
                  </a:extLst>
                </a:gridCol>
                <a:gridCol w="1512000">
                  <a:extLst>
                    <a:ext uri="{9D8B030D-6E8A-4147-A177-3AD203B41FA5}">
                      <a16:colId xmlns:a16="http://schemas.microsoft.com/office/drawing/2014/main" val="3731849391"/>
                    </a:ext>
                  </a:extLst>
                </a:gridCol>
                <a:gridCol w="1512000">
                  <a:extLst>
                    <a:ext uri="{9D8B030D-6E8A-4147-A177-3AD203B41FA5}">
                      <a16:colId xmlns:a16="http://schemas.microsoft.com/office/drawing/2014/main" val="4182369962"/>
                    </a:ext>
                  </a:extLst>
                </a:gridCol>
              </a:tblGrid>
              <a:tr h="388296">
                <a:tc>
                  <a:txBody>
                    <a:bodyPr/>
                    <a:lstStyle/>
                    <a:p>
                      <a:r>
                        <a:rPr lang="en-US" sz="1200" dirty="0">
                          <a:latin typeface="Century Gothic" panose="020B0502020202020204" pitchFamily="34" charset="0"/>
                        </a:rPr>
                        <a:t>Segment</a:t>
                      </a:r>
                      <a:endParaRPr lang="en-ZA" sz="1200" dirty="0">
                        <a:latin typeface="Century Gothic" panose="020B0502020202020204" pitchFamily="34" charset="0"/>
                      </a:endParaRPr>
                    </a:p>
                  </a:txBody>
                  <a:tcPr anchor="b">
                    <a:lnL>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Change Readiness</a:t>
                      </a:r>
                    </a:p>
                    <a:p>
                      <a:pPr algn="ctr"/>
                      <a:r>
                        <a:rPr lang="en-ZA" sz="1200" dirty="0">
                          <a:latin typeface="Century Gothic" panose="020B0502020202020204" pitchFamily="34" charset="0"/>
                        </a:rPr>
                        <a:t>Index</a:t>
                      </a: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have heard about the Old Mutual Group Operating model changes,..</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am aware of the basic scope of what is changing.</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understand why the change is occurring and how it is aligned to the broader …</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understand the impacts of the change to the organisation and ...</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believe that the change is the right thing to do, and I am motivated to ..</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understand the impacts and benefits of the change for me.</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96060134"/>
                  </a:ext>
                </a:extLst>
              </a:tr>
              <a:tr h="314685">
                <a:tc>
                  <a:txBody>
                    <a:bodyPr/>
                    <a:lstStyle/>
                    <a:p>
                      <a:r>
                        <a:rPr lang="en-US" sz="1100" dirty="0">
                          <a:latin typeface="Century Gothic" panose="020B0502020202020204" pitchFamily="34" charset="0"/>
                        </a:rPr>
                        <a:t>Corporate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4.82</a:t>
                      </a: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4.98</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4.35</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5.13</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861170079"/>
                  </a:ext>
                </a:extLst>
              </a:tr>
              <a:tr h="314685">
                <a:tc>
                  <a:txBody>
                    <a:bodyPr/>
                    <a:lstStyle/>
                    <a:p>
                      <a:r>
                        <a:rPr lang="en-US" sz="1100" dirty="0">
                          <a:latin typeface="Century Gothic" panose="020B0502020202020204" pitchFamily="34" charset="0"/>
                        </a:rPr>
                        <a:t>Group Finance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4.61</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4.18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4.87</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00941285"/>
                  </a:ext>
                </a:extLst>
              </a:tr>
              <a:tr h="314685">
                <a:tc>
                  <a:txBody>
                    <a:bodyPr/>
                    <a:lstStyle/>
                    <a:p>
                      <a:r>
                        <a:rPr lang="en-US" sz="1100" dirty="0">
                          <a:latin typeface="Century Gothic" panose="020B0502020202020204" pitchFamily="34" charset="0"/>
                        </a:rPr>
                        <a:t>Group Internal Audit</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5.27</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4.72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5.32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2944328543"/>
                  </a:ext>
                </a:extLst>
              </a:tr>
              <a:tr h="314685">
                <a:tc>
                  <a:txBody>
                    <a:bodyPr/>
                    <a:lstStyle/>
                    <a:p>
                      <a:r>
                        <a:rPr lang="en-US" sz="1100" dirty="0">
                          <a:latin typeface="Century Gothic" panose="020B0502020202020204" pitchFamily="34" charset="0"/>
                        </a:rPr>
                        <a:t>Group Risk, Compliance and Actuarial</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4.76</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4.89</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4.36</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5.03</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493087986"/>
                  </a:ext>
                </a:extLst>
              </a:tr>
              <a:tr h="314685">
                <a:tc>
                  <a:txBody>
                    <a:bodyPr/>
                    <a:lstStyle/>
                    <a:p>
                      <a:r>
                        <a:rPr lang="en-US" sz="1100" dirty="0">
                          <a:latin typeface="Century Gothic" panose="020B0502020202020204" pitchFamily="34" charset="0"/>
                        </a:rPr>
                        <a:t>Group Strategy |Sustainability | People | Public Affairs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4.42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3.64</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469135668"/>
                  </a:ext>
                </a:extLst>
              </a:tr>
              <a:tr h="314685">
                <a:tc>
                  <a:txBody>
                    <a:bodyPr/>
                    <a:lstStyle/>
                    <a:p>
                      <a:r>
                        <a:rPr lang="en-US" sz="1100" dirty="0">
                          <a:latin typeface="Century Gothic" panose="020B0502020202020204" pitchFamily="34" charset="0"/>
                        </a:rPr>
                        <a:t>Mass and Foundation Cluster</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4.22</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3.58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51737384"/>
                  </a:ext>
                </a:extLst>
              </a:tr>
              <a:tr h="314685">
                <a:tc>
                  <a:txBody>
                    <a:bodyPr/>
                    <a:lstStyle/>
                    <a:p>
                      <a:r>
                        <a:rPr lang="en-US" sz="1100" dirty="0">
                          <a:latin typeface="Century Gothic" panose="020B0502020202020204" pitchFamily="34" charset="0"/>
                        </a:rPr>
                        <a:t>Next176</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5.00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5.22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4.67</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5.11</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956109435"/>
                  </a:ext>
                </a:extLst>
              </a:tr>
              <a:tr h="314685">
                <a:tc>
                  <a:txBody>
                    <a:bodyPr/>
                    <a:lstStyle/>
                    <a:p>
                      <a:r>
                        <a:rPr lang="en-US" sz="1100" dirty="0">
                          <a:latin typeface="Century Gothic" panose="020B0502020202020204" pitchFamily="34" charset="0"/>
                        </a:rPr>
                        <a:t>Old Mutual Africa Regions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4.41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3.59</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184501933"/>
                  </a:ext>
                </a:extLst>
              </a:tr>
              <a:tr h="314685">
                <a:tc>
                  <a:txBody>
                    <a:bodyPr/>
                    <a:lstStyle/>
                    <a:p>
                      <a:r>
                        <a:rPr lang="en-US" sz="1100" dirty="0">
                          <a:latin typeface="Century Gothic" panose="020B0502020202020204" pitchFamily="34" charset="0"/>
                        </a:rPr>
                        <a:t>Old Mutual Exco</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5.33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4.83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5.42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2653615669"/>
                  </a:ext>
                </a:extLst>
              </a:tr>
              <a:tr h="314685">
                <a:tc>
                  <a:txBody>
                    <a:bodyPr/>
                    <a:lstStyle/>
                    <a:p>
                      <a:r>
                        <a:rPr lang="en-US" sz="1100" dirty="0">
                          <a:latin typeface="Century Gothic" panose="020B0502020202020204" pitchFamily="34" charset="0"/>
                        </a:rPr>
                        <a:t>Old Mutual Insure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4.30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4.53</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3.81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42393432"/>
                  </a:ext>
                </a:extLst>
              </a:tr>
              <a:tr h="314685">
                <a:tc>
                  <a:txBody>
                    <a:bodyPr/>
                    <a:lstStyle/>
                    <a:p>
                      <a:r>
                        <a:rPr lang="en-US" sz="1100" dirty="0">
                          <a:latin typeface="Century Gothic" panose="020B0502020202020204" pitchFamily="34" charset="0"/>
                        </a:rPr>
                        <a:t>Old Mutual Investments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4.34</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4.55</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3.91</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4147174654"/>
                  </a:ext>
                </a:extLst>
              </a:tr>
              <a:tr h="314685">
                <a:tc>
                  <a:txBody>
                    <a:bodyPr/>
                    <a:lstStyle/>
                    <a:p>
                      <a:r>
                        <a:rPr lang="en-ZA" sz="1100" dirty="0">
                          <a:latin typeface="Century Gothic" panose="020B0502020202020204" pitchFamily="34" charset="0"/>
                        </a:rPr>
                        <a:t>Old Mutual Wealth</a:t>
                      </a: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4.55</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4.75</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4.15</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4.76</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087718659"/>
                  </a:ext>
                </a:extLst>
              </a:tr>
              <a:tr h="314685">
                <a:tc>
                  <a:txBody>
                    <a:bodyPr/>
                    <a:lstStyle/>
                    <a:p>
                      <a:r>
                        <a:rPr lang="en-US" sz="1100" dirty="0">
                          <a:latin typeface="Century Gothic" panose="020B0502020202020204" pitchFamily="34" charset="0"/>
                        </a:rPr>
                        <a:t>OMiX</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4.33</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4.50</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3.93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589866923"/>
                  </a:ext>
                </a:extLst>
              </a:tr>
              <a:tr h="314685">
                <a:tc>
                  <a:txBody>
                    <a:bodyPr/>
                    <a:lstStyle/>
                    <a:p>
                      <a:r>
                        <a:rPr lang="en-US" sz="1100" dirty="0">
                          <a:latin typeface="Century Gothic" panose="020B0502020202020204" pitchFamily="34" charset="0"/>
                        </a:rPr>
                        <a:t>Personal Finance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4.42</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4.62</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3.97</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4.68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231431060"/>
                  </a:ext>
                </a:extLst>
              </a:tr>
              <a:tr h="314685">
                <a:tc>
                  <a:txBody>
                    <a:bodyPr/>
                    <a:lstStyle/>
                    <a:p>
                      <a:r>
                        <a:rPr lang="en-US" sz="1100" b="1" dirty="0">
                          <a:latin typeface="Century Gothic" panose="020B0502020202020204" pitchFamily="34" charset="0"/>
                        </a:rPr>
                        <a:t>OML TOTAL</a:t>
                      </a:r>
                      <a:endParaRPr lang="en-ZA" sz="1100" b="1"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3.9</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4.52</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3.75</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4.61</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87345079"/>
                  </a:ext>
                </a:extLst>
              </a:tr>
            </a:tbl>
          </a:graphicData>
        </a:graphic>
      </p:graphicFrame>
      <p:sp>
        <p:nvSpPr>
          <p:cNvPr id="4" name="Title 3">
            <a:extLst>
              <a:ext uri="{FF2B5EF4-FFF2-40B4-BE49-F238E27FC236}">
                <a16:creationId xmlns:a16="http://schemas.microsoft.com/office/drawing/2014/main" id="{843F7CD9-3D93-4668-A3C5-39BDC33A888B}"/>
              </a:ext>
            </a:extLst>
          </p:cNvPr>
          <p:cNvSpPr>
            <a:spLocks noGrp="1"/>
          </p:cNvSpPr>
          <p:nvPr>
            <p:ph type="title"/>
          </p:nvPr>
        </p:nvSpPr>
        <p:spPr/>
        <p:txBody>
          <a:bodyPr/>
          <a:lstStyle/>
          <a:p>
            <a:r>
              <a:rPr lang="en-GB" dirty="0"/>
              <a:t>OML CHANGE READINESS SEGMENT SCORES</a:t>
            </a:r>
            <a:endParaRPr lang="en-ZA" dirty="0"/>
          </a:p>
        </p:txBody>
      </p:sp>
      <p:grpSp>
        <p:nvGrpSpPr>
          <p:cNvPr id="5" name="Group 4">
            <a:extLst>
              <a:ext uri="{FF2B5EF4-FFF2-40B4-BE49-F238E27FC236}">
                <a16:creationId xmlns:a16="http://schemas.microsoft.com/office/drawing/2014/main" id="{936D85A1-1C35-43CB-AFB4-923D1EEDFBED}"/>
              </a:ext>
            </a:extLst>
          </p:cNvPr>
          <p:cNvGrpSpPr/>
          <p:nvPr/>
        </p:nvGrpSpPr>
        <p:grpSpPr>
          <a:xfrm>
            <a:off x="4223799" y="6713807"/>
            <a:ext cx="8827182" cy="252000"/>
            <a:chOff x="955948" y="6545182"/>
            <a:chExt cx="8827182" cy="252000"/>
          </a:xfrm>
        </p:grpSpPr>
        <p:sp>
          <p:nvSpPr>
            <p:cNvPr id="6" name="Rectangle 5">
              <a:extLst>
                <a:ext uri="{FF2B5EF4-FFF2-40B4-BE49-F238E27FC236}">
                  <a16:creationId xmlns:a16="http://schemas.microsoft.com/office/drawing/2014/main" id="{7904FB59-F3E2-4730-83B1-4D9583D18BD5}"/>
                </a:ext>
              </a:extLst>
            </p:cNvPr>
            <p:cNvSpPr/>
            <p:nvPr/>
          </p:nvSpPr>
          <p:spPr>
            <a:xfrm>
              <a:off x="3178342" y="6545182"/>
              <a:ext cx="2160000" cy="252000"/>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between 4.00 – 4.49</a:t>
              </a:r>
              <a:endParaRPr lang="en-ZA" sz="1100" dirty="0">
                <a:solidFill>
                  <a:schemeClr val="tx1"/>
                </a:solidFill>
                <a:latin typeface="Century Gothic" panose="020B0502020202020204" pitchFamily="34" charset="0"/>
              </a:endParaRPr>
            </a:p>
          </p:txBody>
        </p:sp>
        <p:sp>
          <p:nvSpPr>
            <p:cNvPr id="7" name="Rectangle 6">
              <a:extLst>
                <a:ext uri="{FF2B5EF4-FFF2-40B4-BE49-F238E27FC236}">
                  <a16:creationId xmlns:a16="http://schemas.microsoft.com/office/drawing/2014/main" id="{EF640363-DBFE-4D05-AF6D-238149C2AB6D}"/>
                </a:ext>
              </a:extLst>
            </p:cNvPr>
            <p:cNvSpPr/>
            <p:nvPr/>
          </p:nvSpPr>
          <p:spPr>
            <a:xfrm>
              <a:off x="5400736" y="6545182"/>
              <a:ext cx="2160000" cy="252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between 4.50 - 4.99</a:t>
              </a:r>
              <a:endParaRPr lang="en-ZA" sz="1100" dirty="0">
                <a:solidFill>
                  <a:schemeClr val="tx1"/>
                </a:solidFill>
                <a:latin typeface="Century Gothic" panose="020B0502020202020204" pitchFamily="34" charset="0"/>
              </a:endParaRPr>
            </a:p>
          </p:txBody>
        </p:sp>
        <p:sp>
          <p:nvSpPr>
            <p:cNvPr id="8" name="Rectangle 7">
              <a:extLst>
                <a:ext uri="{FF2B5EF4-FFF2-40B4-BE49-F238E27FC236}">
                  <a16:creationId xmlns:a16="http://schemas.microsoft.com/office/drawing/2014/main" id="{8A50519A-12BF-4450-9494-991496B79600}"/>
                </a:ext>
              </a:extLst>
            </p:cNvPr>
            <p:cNvSpPr/>
            <p:nvPr/>
          </p:nvSpPr>
          <p:spPr>
            <a:xfrm>
              <a:off x="7623130" y="6545182"/>
              <a:ext cx="2160000" cy="252000"/>
            </a:xfrm>
            <a:prstGeom prst="rect">
              <a:avLst/>
            </a:prstGeom>
            <a:solidFill>
              <a:srgbClr val="92D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above 5.00</a:t>
              </a:r>
              <a:endParaRPr lang="en-ZA" sz="1100" dirty="0">
                <a:solidFill>
                  <a:schemeClr val="tx1"/>
                </a:solidFill>
                <a:latin typeface="Century Gothic" panose="020B0502020202020204" pitchFamily="34" charset="0"/>
              </a:endParaRPr>
            </a:p>
          </p:txBody>
        </p:sp>
        <p:sp>
          <p:nvSpPr>
            <p:cNvPr id="9" name="Rectangle 8">
              <a:extLst>
                <a:ext uri="{FF2B5EF4-FFF2-40B4-BE49-F238E27FC236}">
                  <a16:creationId xmlns:a16="http://schemas.microsoft.com/office/drawing/2014/main" id="{02856432-D95D-4BBD-B0DF-698C69779854}"/>
                </a:ext>
              </a:extLst>
            </p:cNvPr>
            <p:cNvSpPr/>
            <p:nvPr/>
          </p:nvSpPr>
          <p:spPr>
            <a:xfrm>
              <a:off x="955948" y="6545182"/>
              <a:ext cx="2160000" cy="252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latin typeface="Century Gothic" panose="020B0502020202020204" pitchFamily="34" charset="0"/>
                </a:rPr>
                <a:t>Score below 3.99</a:t>
              </a:r>
              <a:endParaRPr lang="en-ZA" sz="1100" dirty="0">
                <a:solidFill>
                  <a:schemeClr val="bg1"/>
                </a:solidFill>
                <a:latin typeface="Century Gothic" panose="020B0502020202020204" pitchFamily="34" charset="0"/>
              </a:endParaRPr>
            </a:p>
          </p:txBody>
        </p:sp>
      </p:grpSp>
      <p:sp>
        <p:nvSpPr>
          <p:cNvPr id="58" name="Footer Placeholder 57">
            <a:extLst>
              <a:ext uri="{FF2B5EF4-FFF2-40B4-BE49-F238E27FC236}">
                <a16:creationId xmlns:a16="http://schemas.microsoft.com/office/drawing/2014/main" id="{E5892687-7FC3-439C-A089-4628FAEF020F}"/>
              </a:ext>
            </a:extLst>
          </p:cNvPr>
          <p:cNvSpPr>
            <a:spLocks noGrp="1"/>
          </p:cNvSpPr>
          <p:nvPr>
            <p:ph type="ftr" sz="quarter" idx="3"/>
          </p:nvPr>
        </p:nvSpPr>
        <p:spPr/>
        <p:txBody>
          <a:bodyPr/>
          <a:lstStyle/>
          <a:p>
            <a:r>
              <a:rPr lang="en-US"/>
              <a:t>Powered by Pure Survey (Pty) Ltd © 2025. Rights Reserved</a:t>
            </a:r>
            <a:endParaRPr lang="en-ZA" dirty="0"/>
          </a:p>
        </p:txBody>
      </p:sp>
      <p:sp>
        <p:nvSpPr>
          <p:cNvPr id="59" name="Slide Number Placeholder 58">
            <a:extLst>
              <a:ext uri="{FF2B5EF4-FFF2-40B4-BE49-F238E27FC236}">
                <a16:creationId xmlns:a16="http://schemas.microsoft.com/office/drawing/2014/main" id="{08D931B1-5BCC-4F12-A694-B45E1D4C83BE}"/>
              </a:ext>
            </a:extLst>
          </p:cNvPr>
          <p:cNvSpPr>
            <a:spLocks noGrp="1"/>
          </p:cNvSpPr>
          <p:nvPr>
            <p:ph type="sldNum" sz="quarter" idx="4"/>
          </p:nvPr>
        </p:nvSpPr>
        <p:spPr/>
        <p:txBody>
          <a:bodyPr/>
          <a:lstStyle/>
          <a:p>
            <a:fld id="{1345FC39-5FD0-4CFC-A4C3-931930B79EEA}" type="slidenum">
              <a:rPr lang="en-ZA" smtClean="0"/>
              <a:pPr/>
              <a:t>7</a:t>
            </a:fld>
            <a:endParaRPr lang="en-ZA" dirty="0"/>
          </a:p>
        </p:txBody>
      </p:sp>
      <p:grpSp>
        <p:nvGrpSpPr>
          <p:cNvPr id="2" name="Group 1">
            <a:extLst>
              <a:ext uri="{FF2B5EF4-FFF2-40B4-BE49-F238E27FC236}">
                <a16:creationId xmlns:a16="http://schemas.microsoft.com/office/drawing/2014/main" id="{B6B4C31A-F72F-4915-B087-73592F8BC3E9}"/>
              </a:ext>
            </a:extLst>
          </p:cNvPr>
          <p:cNvGrpSpPr/>
          <p:nvPr/>
        </p:nvGrpSpPr>
        <p:grpSpPr>
          <a:xfrm>
            <a:off x="4370790" y="1530810"/>
            <a:ext cx="511044" cy="4949963"/>
            <a:chOff x="4370790" y="1530810"/>
            <a:chExt cx="511044" cy="4949963"/>
          </a:xfrm>
        </p:grpSpPr>
        <p:sp>
          <p:nvSpPr>
            <p:cNvPr id="13" name="Rectangle 12">
              <a:extLst>
                <a:ext uri="{FF2B5EF4-FFF2-40B4-BE49-F238E27FC236}">
                  <a16:creationId xmlns:a16="http://schemas.microsoft.com/office/drawing/2014/main" id="{2F26E1D7-F239-4276-90C1-7B7D343844A8}"/>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4" name="Rectangle 13">
              <a:extLst>
                <a:ext uri="{FF2B5EF4-FFF2-40B4-BE49-F238E27FC236}">
                  <a16:creationId xmlns:a16="http://schemas.microsoft.com/office/drawing/2014/main" id="{6A3646EE-6E41-42AB-AE6F-F0EA0671EC59}"/>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5" name="Rectangle 14">
              <a:extLst>
                <a:ext uri="{FF2B5EF4-FFF2-40B4-BE49-F238E27FC236}">
                  <a16:creationId xmlns:a16="http://schemas.microsoft.com/office/drawing/2014/main" id="{54C7792B-A2E4-455C-BB9D-9D4AAF2E4ACA}"/>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6" name="Rectangle 15">
              <a:extLst>
                <a:ext uri="{FF2B5EF4-FFF2-40B4-BE49-F238E27FC236}">
                  <a16:creationId xmlns:a16="http://schemas.microsoft.com/office/drawing/2014/main" id="{1DD33FDB-46D8-4C76-BB92-8B4F0E9DC635}"/>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7" name="Rectangle 16">
              <a:extLst>
                <a:ext uri="{FF2B5EF4-FFF2-40B4-BE49-F238E27FC236}">
                  <a16:creationId xmlns:a16="http://schemas.microsoft.com/office/drawing/2014/main" id="{E1B9F21F-D50D-426C-86E7-BBA807B1BE8D}"/>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8" name="Rectangle 17">
              <a:extLst>
                <a:ext uri="{FF2B5EF4-FFF2-40B4-BE49-F238E27FC236}">
                  <a16:creationId xmlns:a16="http://schemas.microsoft.com/office/drawing/2014/main" id="{16D46007-76AC-489E-B65C-0F4648DE8D98}"/>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9" name="Rectangle 18">
              <a:extLst>
                <a:ext uri="{FF2B5EF4-FFF2-40B4-BE49-F238E27FC236}">
                  <a16:creationId xmlns:a16="http://schemas.microsoft.com/office/drawing/2014/main" id="{7D39E702-C96A-4857-971D-A74B78DD6CF5}"/>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20" name="Rectangle 19">
              <a:extLst>
                <a:ext uri="{FF2B5EF4-FFF2-40B4-BE49-F238E27FC236}">
                  <a16:creationId xmlns:a16="http://schemas.microsoft.com/office/drawing/2014/main" id="{A644415E-8AA8-4ECA-93D3-629EB6CC6B8B}"/>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21" name="Rectangle 20">
              <a:extLst>
                <a:ext uri="{FF2B5EF4-FFF2-40B4-BE49-F238E27FC236}">
                  <a16:creationId xmlns:a16="http://schemas.microsoft.com/office/drawing/2014/main" id="{8E643B66-5AA2-4337-8A79-38E749D8CB67}"/>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23" name="Rectangle 22">
              <a:extLst>
                <a:ext uri="{FF2B5EF4-FFF2-40B4-BE49-F238E27FC236}">
                  <a16:creationId xmlns:a16="http://schemas.microsoft.com/office/drawing/2014/main" id="{3E5E9CAA-04D1-4EF8-A4A3-682A9735B809}"/>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24" name="Rectangle 23">
              <a:extLst>
                <a:ext uri="{FF2B5EF4-FFF2-40B4-BE49-F238E27FC236}">
                  <a16:creationId xmlns:a16="http://schemas.microsoft.com/office/drawing/2014/main" id="{C81A4C67-5357-4651-B448-782A5CAD3DE0}"/>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25" name="Rectangle 24">
              <a:extLst>
                <a:ext uri="{FF2B5EF4-FFF2-40B4-BE49-F238E27FC236}">
                  <a16:creationId xmlns:a16="http://schemas.microsoft.com/office/drawing/2014/main" id="{107D771E-7DA2-4DE9-BFAF-21D1820577FB}"/>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26" name="Rectangle 25">
              <a:extLst>
                <a:ext uri="{FF2B5EF4-FFF2-40B4-BE49-F238E27FC236}">
                  <a16:creationId xmlns:a16="http://schemas.microsoft.com/office/drawing/2014/main" id="{D756FE20-02BF-4982-BD56-E37F095A3198}"/>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27" name="Rectangle 26">
              <a:extLst>
                <a:ext uri="{FF2B5EF4-FFF2-40B4-BE49-F238E27FC236}">
                  <a16:creationId xmlns:a16="http://schemas.microsoft.com/office/drawing/2014/main" id="{4B19FAEE-0AA8-445E-8B41-BB3C461F94CE}"/>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60" name="Rectangle 59">
              <a:extLst>
                <a:ext uri="{FF2B5EF4-FFF2-40B4-BE49-F238E27FC236}">
                  <a16:creationId xmlns:a16="http://schemas.microsoft.com/office/drawing/2014/main" id="{92D623F1-C985-420E-8882-36C4DF54BEE5}"/>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grpSp>
        <p:nvGrpSpPr>
          <p:cNvPr id="138" name="Group 137">
            <a:extLst>
              <a:ext uri="{FF2B5EF4-FFF2-40B4-BE49-F238E27FC236}">
                <a16:creationId xmlns:a16="http://schemas.microsoft.com/office/drawing/2014/main" id="{28D0872A-AFF8-43F8-8FF4-34F51E527C63}"/>
              </a:ext>
            </a:extLst>
          </p:cNvPr>
          <p:cNvGrpSpPr/>
          <p:nvPr/>
        </p:nvGrpSpPr>
        <p:grpSpPr>
          <a:xfrm>
            <a:off x="5918475" y="1538541"/>
            <a:ext cx="511044" cy="4949963"/>
            <a:chOff x="4370790" y="1530810"/>
            <a:chExt cx="511044" cy="4949963"/>
          </a:xfrm>
        </p:grpSpPr>
        <p:sp>
          <p:nvSpPr>
            <p:cNvPr id="139" name="Rectangle 138">
              <a:extLst>
                <a:ext uri="{FF2B5EF4-FFF2-40B4-BE49-F238E27FC236}">
                  <a16:creationId xmlns:a16="http://schemas.microsoft.com/office/drawing/2014/main" id="{C2566AFE-54E1-4337-819D-DD21A96CAC83}"/>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40" name="Rectangle 139">
              <a:extLst>
                <a:ext uri="{FF2B5EF4-FFF2-40B4-BE49-F238E27FC236}">
                  <a16:creationId xmlns:a16="http://schemas.microsoft.com/office/drawing/2014/main" id="{3A4A2560-4944-4D2B-B6FB-B91AFE06875E}"/>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41" name="Rectangle 140">
              <a:extLst>
                <a:ext uri="{FF2B5EF4-FFF2-40B4-BE49-F238E27FC236}">
                  <a16:creationId xmlns:a16="http://schemas.microsoft.com/office/drawing/2014/main" id="{63D9303E-D445-45C5-98E7-94464EC61A5A}"/>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42" name="Rectangle 141">
              <a:extLst>
                <a:ext uri="{FF2B5EF4-FFF2-40B4-BE49-F238E27FC236}">
                  <a16:creationId xmlns:a16="http://schemas.microsoft.com/office/drawing/2014/main" id="{52B306FF-77E4-487A-A469-45391434DE33}"/>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43" name="Rectangle 142">
              <a:extLst>
                <a:ext uri="{FF2B5EF4-FFF2-40B4-BE49-F238E27FC236}">
                  <a16:creationId xmlns:a16="http://schemas.microsoft.com/office/drawing/2014/main" id="{0A7314D7-CB6A-468B-AC4D-5C6984DA23E1}"/>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44" name="Rectangle 143">
              <a:extLst>
                <a:ext uri="{FF2B5EF4-FFF2-40B4-BE49-F238E27FC236}">
                  <a16:creationId xmlns:a16="http://schemas.microsoft.com/office/drawing/2014/main" id="{A7737115-C0AD-4782-ABEF-79792BE40A32}"/>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45" name="Rectangle 144">
              <a:extLst>
                <a:ext uri="{FF2B5EF4-FFF2-40B4-BE49-F238E27FC236}">
                  <a16:creationId xmlns:a16="http://schemas.microsoft.com/office/drawing/2014/main" id="{1660EA76-5801-41CA-AD07-7AFA214E2199}"/>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46" name="Rectangle 145">
              <a:extLst>
                <a:ext uri="{FF2B5EF4-FFF2-40B4-BE49-F238E27FC236}">
                  <a16:creationId xmlns:a16="http://schemas.microsoft.com/office/drawing/2014/main" id="{2594FFD9-FB4E-4B07-9C6A-6360FDCD66A4}"/>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47" name="Rectangle 146">
              <a:extLst>
                <a:ext uri="{FF2B5EF4-FFF2-40B4-BE49-F238E27FC236}">
                  <a16:creationId xmlns:a16="http://schemas.microsoft.com/office/drawing/2014/main" id="{0368F53A-DE91-46CD-A71D-C742D28834EF}"/>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48" name="Rectangle 147">
              <a:extLst>
                <a:ext uri="{FF2B5EF4-FFF2-40B4-BE49-F238E27FC236}">
                  <a16:creationId xmlns:a16="http://schemas.microsoft.com/office/drawing/2014/main" id="{641CEDA2-8362-4EC3-B56E-5249A113D192}"/>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49" name="Rectangle 148">
              <a:extLst>
                <a:ext uri="{FF2B5EF4-FFF2-40B4-BE49-F238E27FC236}">
                  <a16:creationId xmlns:a16="http://schemas.microsoft.com/office/drawing/2014/main" id="{2585986A-4E69-4BF8-AFE3-6570B329B578}"/>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50" name="Rectangle 149">
              <a:extLst>
                <a:ext uri="{FF2B5EF4-FFF2-40B4-BE49-F238E27FC236}">
                  <a16:creationId xmlns:a16="http://schemas.microsoft.com/office/drawing/2014/main" id="{F0B6419A-92B5-4CD4-A457-085B56AABF55}"/>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51" name="Rectangle 150">
              <a:extLst>
                <a:ext uri="{FF2B5EF4-FFF2-40B4-BE49-F238E27FC236}">
                  <a16:creationId xmlns:a16="http://schemas.microsoft.com/office/drawing/2014/main" id="{99CC67D7-89E9-4D78-9CCE-438BCA841C73}"/>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52" name="Rectangle 151">
              <a:extLst>
                <a:ext uri="{FF2B5EF4-FFF2-40B4-BE49-F238E27FC236}">
                  <a16:creationId xmlns:a16="http://schemas.microsoft.com/office/drawing/2014/main" id="{676AB52E-7B43-4668-9164-4D17F4FE3D56}"/>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53" name="Rectangle 152">
              <a:extLst>
                <a:ext uri="{FF2B5EF4-FFF2-40B4-BE49-F238E27FC236}">
                  <a16:creationId xmlns:a16="http://schemas.microsoft.com/office/drawing/2014/main" id="{07BAFCF3-6307-41FE-996D-1066BC612BF2}"/>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grpSp>
        <p:nvGrpSpPr>
          <p:cNvPr id="154" name="Group 153">
            <a:extLst>
              <a:ext uri="{FF2B5EF4-FFF2-40B4-BE49-F238E27FC236}">
                <a16:creationId xmlns:a16="http://schemas.microsoft.com/office/drawing/2014/main" id="{C6D17EF4-42BC-4257-B5BB-994675EF0702}"/>
              </a:ext>
            </a:extLst>
          </p:cNvPr>
          <p:cNvGrpSpPr/>
          <p:nvPr/>
        </p:nvGrpSpPr>
        <p:grpSpPr>
          <a:xfrm>
            <a:off x="7466153" y="1538541"/>
            <a:ext cx="511044" cy="4949963"/>
            <a:chOff x="4370790" y="1530810"/>
            <a:chExt cx="511044" cy="4949963"/>
          </a:xfrm>
        </p:grpSpPr>
        <p:sp>
          <p:nvSpPr>
            <p:cNvPr id="155" name="Rectangle 154">
              <a:extLst>
                <a:ext uri="{FF2B5EF4-FFF2-40B4-BE49-F238E27FC236}">
                  <a16:creationId xmlns:a16="http://schemas.microsoft.com/office/drawing/2014/main" id="{0F1796BA-6E09-4023-9F38-21BBFFE98BFF}"/>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56" name="Rectangle 155">
              <a:extLst>
                <a:ext uri="{FF2B5EF4-FFF2-40B4-BE49-F238E27FC236}">
                  <a16:creationId xmlns:a16="http://schemas.microsoft.com/office/drawing/2014/main" id="{3F28BE8F-6689-4BBE-AF7E-E8126C06A229}"/>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57" name="Rectangle 156">
              <a:extLst>
                <a:ext uri="{FF2B5EF4-FFF2-40B4-BE49-F238E27FC236}">
                  <a16:creationId xmlns:a16="http://schemas.microsoft.com/office/drawing/2014/main" id="{8D60A0C3-05DE-492F-B29C-C60CA0788CDC}"/>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58" name="Rectangle 157">
              <a:extLst>
                <a:ext uri="{FF2B5EF4-FFF2-40B4-BE49-F238E27FC236}">
                  <a16:creationId xmlns:a16="http://schemas.microsoft.com/office/drawing/2014/main" id="{C5D9D8BE-1DB0-4AB6-B952-11F116B71744}"/>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59" name="Rectangle 158">
              <a:extLst>
                <a:ext uri="{FF2B5EF4-FFF2-40B4-BE49-F238E27FC236}">
                  <a16:creationId xmlns:a16="http://schemas.microsoft.com/office/drawing/2014/main" id="{3E3242A7-48E4-471C-A458-FC81828A2B30}"/>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60" name="Rectangle 159">
              <a:extLst>
                <a:ext uri="{FF2B5EF4-FFF2-40B4-BE49-F238E27FC236}">
                  <a16:creationId xmlns:a16="http://schemas.microsoft.com/office/drawing/2014/main" id="{AAF38871-2F47-4111-9B71-DC6A1509564E}"/>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61" name="Rectangle 160">
              <a:extLst>
                <a:ext uri="{FF2B5EF4-FFF2-40B4-BE49-F238E27FC236}">
                  <a16:creationId xmlns:a16="http://schemas.microsoft.com/office/drawing/2014/main" id="{44AD4B35-7713-45D0-AEF2-D7BE57B48AEF}"/>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62" name="Rectangle 161">
              <a:extLst>
                <a:ext uri="{FF2B5EF4-FFF2-40B4-BE49-F238E27FC236}">
                  <a16:creationId xmlns:a16="http://schemas.microsoft.com/office/drawing/2014/main" id="{899499B9-7BB3-4B0C-9D9D-A98A576664E3}"/>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63" name="Rectangle 162">
              <a:extLst>
                <a:ext uri="{FF2B5EF4-FFF2-40B4-BE49-F238E27FC236}">
                  <a16:creationId xmlns:a16="http://schemas.microsoft.com/office/drawing/2014/main" id="{66DD740F-6182-4E0A-BC2B-A21430053264}"/>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64" name="Rectangle 163">
              <a:extLst>
                <a:ext uri="{FF2B5EF4-FFF2-40B4-BE49-F238E27FC236}">
                  <a16:creationId xmlns:a16="http://schemas.microsoft.com/office/drawing/2014/main" id="{61C6D844-2996-4097-B18B-B77E2AAB7E65}"/>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65" name="Rectangle 164">
              <a:extLst>
                <a:ext uri="{FF2B5EF4-FFF2-40B4-BE49-F238E27FC236}">
                  <a16:creationId xmlns:a16="http://schemas.microsoft.com/office/drawing/2014/main" id="{965E1DE2-114E-4726-9521-67C0560627BC}"/>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66" name="Rectangle 165">
              <a:extLst>
                <a:ext uri="{FF2B5EF4-FFF2-40B4-BE49-F238E27FC236}">
                  <a16:creationId xmlns:a16="http://schemas.microsoft.com/office/drawing/2014/main" id="{A882A33E-7840-495C-AD03-F6B5DE08E56B}"/>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67" name="Rectangle 166">
              <a:extLst>
                <a:ext uri="{FF2B5EF4-FFF2-40B4-BE49-F238E27FC236}">
                  <a16:creationId xmlns:a16="http://schemas.microsoft.com/office/drawing/2014/main" id="{DE49D98A-46C5-436C-B1BE-B8AAA2E36269}"/>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68" name="Rectangle 167">
              <a:extLst>
                <a:ext uri="{FF2B5EF4-FFF2-40B4-BE49-F238E27FC236}">
                  <a16:creationId xmlns:a16="http://schemas.microsoft.com/office/drawing/2014/main" id="{0888253D-0ECB-42DA-BD9D-983D049F0312}"/>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69" name="Rectangle 168">
              <a:extLst>
                <a:ext uri="{FF2B5EF4-FFF2-40B4-BE49-F238E27FC236}">
                  <a16:creationId xmlns:a16="http://schemas.microsoft.com/office/drawing/2014/main" id="{74476A30-5A09-45AE-BE17-D6FF77164AD9}"/>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grpSp>
        <p:nvGrpSpPr>
          <p:cNvPr id="170" name="Group 169">
            <a:extLst>
              <a:ext uri="{FF2B5EF4-FFF2-40B4-BE49-F238E27FC236}">
                <a16:creationId xmlns:a16="http://schemas.microsoft.com/office/drawing/2014/main" id="{EEB16BC9-7AD3-4FE4-BBB9-C98E72BE5433}"/>
              </a:ext>
            </a:extLst>
          </p:cNvPr>
          <p:cNvGrpSpPr/>
          <p:nvPr/>
        </p:nvGrpSpPr>
        <p:grpSpPr>
          <a:xfrm>
            <a:off x="8943292" y="1530810"/>
            <a:ext cx="511044" cy="4949963"/>
            <a:chOff x="4370790" y="1530810"/>
            <a:chExt cx="511044" cy="4949963"/>
          </a:xfrm>
        </p:grpSpPr>
        <p:sp>
          <p:nvSpPr>
            <p:cNvPr id="171" name="Rectangle 170">
              <a:extLst>
                <a:ext uri="{FF2B5EF4-FFF2-40B4-BE49-F238E27FC236}">
                  <a16:creationId xmlns:a16="http://schemas.microsoft.com/office/drawing/2014/main" id="{2E1306E0-F6C0-4097-8C39-62C615FCBF96}"/>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72" name="Rectangle 171">
              <a:extLst>
                <a:ext uri="{FF2B5EF4-FFF2-40B4-BE49-F238E27FC236}">
                  <a16:creationId xmlns:a16="http://schemas.microsoft.com/office/drawing/2014/main" id="{D241BD46-D8DB-4509-8DE3-74319F35D87C}"/>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73" name="Rectangle 172">
              <a:extLst>
                <a:ext uri="{FF2B5EF4-FFF2-40B4-BE49-F238E27FC236}">
                  <a16:creationId xmlns:a16="http://schemas.microsoft.com/office/drawing/2014/main" id="{16715B18-2ED7-4489-A48D-678245F97018}"/>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74" name="Rectangle 173">
              <a:extLst>
                <a:ext uri="{FF2B5EF4-FFF2-40B4-BE49-F238E27FC236}">
                  <a16:creationId xmlns:a16="http://schemas.microsoft.com/office/drawing/2014/main" id="{612F1ED5-950B-4271-9E46-4448F2E07C75}"/>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75" name="Rectangle 174">
              <a:extLst>
                <a:ext uri="{FF2B5EF4-FFF2-40B4-BE49-F238E27FC236}">
                  <a16:creationId xmlns:a16="http://schemas.microsoft.com/office/drawing/2014/main" id="{C087971F-65EF-4612-AFD9-CB602B39677F}"/>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76" name="Rectangle 175">
              <a:extLst>
                <a:ext uri="{FF2B5EF4-FFF2-40B4-BE49-F238E27FC236}">
                  <a16:creationId xmlns:a16="http://schemas.microsoft.com/office/drawing/2014/main" id="{7B9230DF-74C3-4580-B4A7-88659AB99F4F}"/>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77" name="Rectangle 176">
              <a:extLst>
                <a:ext uri="{FF2B5EF4-FFF2-40B4-BE49-F238E27FC236}">
                  <a16:creationId xmlns:a16="http://schemas.microsoft.com/office/drawing/2014/main" id="{55EE483A-43B4-4C2E-B6CF-94FE88D71B18}"/>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78" name="Rectangle 177">
              <a:extLst>
                <a:ext uri="{FF2B5EF4-FFF2-40B4-BE49-F238E27FC236}">
                  <a16:creationId xmlns:a16="http://schemas.microsoft.com/office/drawing/2014/main" id="{4F639C35-F0EA-4149-87C9-73E1EB14FB02}"/>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79" name="Rectangle 178">
              <a:extLst>
                <a:ext uri="{FF2B5EF4-FFF2-40B4-BE49-F238E27FC236}">
                  <a16:creationId xmlns:a16="http://schemas.microsoft.com/office/drawing/2014/main" id="{0CE3B37C-3203-4B03-B0F4-1F67CAFA6190}"/>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80" name="Rectangle 179">
              <a:extLst>
                <a:ext uri="{FF2B5EF4-FFF2-40B4-BE49-F238E27FC236}">
                  <a16:creationId xmlns:a16="http://schemas.microsoft.com/office/drawing/2014/main" id="{363A58EE-3120-4B8C-A8F7-1F7626486897}"/>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81" name="Rectangle 180">
              <a:extLst>
                <a:ext uri="{FF2B5EF4-FFF2-40B4-BE49-F238E27FC236}">
                  <a16:creationId xmlns:a16="http://schemas.microsoft.com/office/drawing/2014/main" id="{5C26B43F-5CD7-483B-95A3-9E344F2C6D01}"/>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82" name="Rectangle 181">
              <a:extLst>
                <a:ext uri="{FF2B5EF4-FFF2-40B4-BE49-F238E27FC236}">
                  <a16:creationId xmlns:a16="http://schemas.microsoft.com/office/drawing/2014/main" id="{82631FDA-D8F4-49A4-935F-DDD306D45C92}"/>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83" name="Rectangle 182">
              <a:extLst>
                <a:ext uri="{FF2B5EF4-FFF2-40B4-BE49-F238E27FC236}">
                  <a16:creationId xmlns:a16="http://schemas.microsoft.com/office/drawing/2014/main" id="{C3234AC6-B583-4D56-8575-88DABE1ABDE5}"/>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84" name="Rectangle 183">
              <a:extLst>
                <a:ext uri="{FF2B5EF4-FFF2-40B4-BE49-F238E27FC236}">
                  <a16:creationId xmlns:a16="http://schemas.microsoft.com/office/drawing/2014/main" id="{B2647BE4-DF6F-443D-B26F-58A5359E1D64}"/>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85" name="Rectangle 184">
              <a:extLst>
                <a:ext uri="{FF2B5EF4-FFF2-40B4-BE49-F238E27FC236}">
                  <a16:creationId xmlns:a16="http://schemas.microsoft.com/office/drawing/2014/main" id="{DB42D751-D055-4E74-A7BA-9CC427D918EE}"/>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grpSp>
        <p:nvGrpSpPr>
          <p:cNvPr id="186" name="Group 185">
            <a:extLst>
              <a:ext uri="{FF2B5EF4-FFF2-40B4-BE49-F238E27FC236}">
                <a16:creationId xmlns:a16="http://schemas.microsoft.com/office/drawing/2014/main" id="{73708E45-6FEA-4B29-BDC9-6008AAB35A54}"/>
              </a:ext>
            </a:extLst>
          </p:cNvPr>
          <p:cNvGrpSpPr/>
          <p:nvPr/>
        </p:nvGrpSpPr>
        <p:grpSpPr>
          <a:xfrm>
            <a:off x="10490955" y="1538541"/>
            <a:ext cx="511044" cy="4949963"/>
            <a:chOff x="4370790" y="1530810"/>
            <a:chExt cx="511044" cy="4949963"/>
          </a:xfrm>
        </p:grpSpPr>
        <p:sp>
          <p:nvSpPr>
            <p:cNvPr id="187" name="Rectangle 186">
              <a:extLst>
                <a:ext uri="{FF2B5EF4-FFF2-40B4-BE49-F238E27FC236}">
                  <a16:creationId xmlns:a16="http://schemas.microsoft.com/office/drawing/2014/main" id="{6E110103-437D-48A3-8292-87A31B737F1B}"/>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88" name="Rectangle 187">
              <a:extLst>
                <a:ext uri="{FF2B5EF4-FFF2-40B4-BE49-F238E27FC236}">
                  <a16:creationId xmlns:a16="http://schemas.microsoft.com/office/drawing/2014/main" id="{DE0E05D6-EB4D-46B4-9506-B91C8BEB69C8}"/>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89" name="Rectangle 188">
              <a:extLst>
                <a:ext uri="{FF2B5EF4-FFF2-40B4-BE49-F238E27FC236}">
                  <a16:creationId xmlns:a16="http://schemas.microsoft.com/office/drawing/2014/main" id="{8EF51CD2-3D86-4ABC-9A90-605556623415}"/>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90" name="Rectangle 189">
              <a:extLst>
                <a:ext uri="{FF2B5EF4-FFF2-40B4-BE49-F238E27FC236}">
                  <a16:creationId xmlns:a16="http://schemas.microsoft.com/office/drawing/2014/main" id="{D4F7B008-5D9E-4787-A1B5-622BA6FA719B}"/>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91" name="Rectangle 190">
              <a:extLst>
                <a:ext uri="{FF2B5EF4-FFF2-40B4-BE49-F238E27FC236}">
                  <a16:creationId xmlns:a16="http://schemas.microsoft.com/office/drawing/2014/main" id="{3548640C-5EEB-4215-98B5-B41D2D97B08C}"/>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92" name="Rectangle 191">
              <a:extLst>
                <a:ext uri="{FF2B5EF4-FFF2-40B4-BE49-F238E27FC236}">
                  <a16:creationId xmlns:a16="http://schemas.microsoft.com/office/drawing/2014/main" id="{0CF1E496-DAF4-416C-AAD7-D2D7F8F7D003}"/>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93" name="Rectangle 192">
              <a:extLst>
                <a:ext uri="{FF2B5EF4-FFF2-40B4-BE49-F238E27FC236}">
                  <a16:creationId xmlns:a16="http://schemas.microsoft.com/office/drawing/2014/main" id="{DF5D8526-1199-4CFC-AC47-8BA9DA1E8FF1}"/>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94" name="Rectangle 193">
              <a:extLst>
                <a:ext uri="{FF2B5EF4-FFF2-40B4-BE49-F238E27FC236}">
                  <a16:creationId xmlns:a16="http://schemas.microsoft.com/office/drawing/2014/main" id="{632CB790-650C-4000-9733-65CDFFDE5C2D}"/>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95" name="Rectangle 194">
              <a:extLst>
                <a:ext uri="{FF2B5EF4-FFF2-40B4-BE49-F238E27FC236}">
                  <a16:creationId xmlns:a16="http://schemas.microsoft.com/office/drawing/2014/main" id="{634BA2C7-BFD8-4504-BDCA-60885CCC20F1}"/>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96" name="Rectangle 195">
              <a:extLst>
                <a:ext uri="{FF2B5EF4-FFF2-40B4-BE49-F238E27FC236}">
                  <a16:creationId xmlns:a16="http://schemas.microsoft.com/office/drawing/2014/main" id="{21846383-476A-4D03-8997-C41F0F0F6E35}"/>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97" name="Rectangle 196">
              <a:extLst>
                <a:ext uri="{FF2B5EF4-FFF2-40B4-BE49-F238E27FC236}">
                  <a16:creationId xmlns:a16="http://schemas.microsoft.com/office/drawing/2014/main" id="{EB18E085-737C-4A0A-8396-BA642F1D6DBA}"/>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98" name="Rectangle 197">
              <a:extLst>
                <a:ext uri="{FF2B5EF4-FFF2-40B4-BE49-F238E27FC236}">
                  <a16:creationId xmlns:a16="http://schemas.microsoft.com/office/drawing/2014/main" id="{2043C7B5-7257-4D02-AF35-C8CC2A8F10AD}"/>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99" name="Rectangle 198">
              <a:extLst>
                <a:ext uri="{FF2B5EF4-FFF2-40B4-BE49-F238E27FC236}">
                  <a16:creationId xmlns:a16="http://schemas.microsoft.com/office/drawing/2014/main" id="{05A63D2C-7A63-401B-9941-C2FF1E948412}"/>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200" name="Rectangle 199">
              <a:extLst>
                <a:ext uri="{FF2B5EF4-FFF2-40B4-BE49-F238E27FC236}">
                  <a16:creationId xmlns:a16="http://schemas.microsoft.com/office/drawing/2014/main" id="{CB1828C5-4333-4F69-BDB2-0D1448A07207}"/>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201" name="Rectangle 200">
              <a:extLst>
                <a:ext uri="{FF2B5EF4-FFF2-40B4-BE49-F238E27FC236}">
                  <a16:creationId xmlns:a16="http://schemas.microsoft.com/office/drawing/2014/main" id="{6E1BD3DB-41E8-4159-B33A-3DE40A54FF9B}"/>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grpSp>
        <p:nvGrpSpPr>
          <p:cNvPr id="202" name="Group 201">
            <a:extLst>
              <a:ext uri="{FF2B5EF4-FFF2-40B4-BE49-F238E27FC236}">
                <a16:creationId xmlns:a16="http://schemas.microsoft.com/office/drawing/2014/main" id="{E1666958-DCFD-45D3-A357-A6DADDE96C82}"/>
              </a:ext>
            </a:extLst>
          </p:cNvPr>
          <p:cNvGrpSpPr/>
          <p:nvPr/>
        </p:nvGrpSpPr>
        <p:grpSpPr>
          <a:xfrm>
            <a:off x="11968094" y="1538541"/>
            <a:ext cx="511044" cy="4949963"/>
            <a:chOff x="4370790" y="1530810"/>
            <a:chExt cx="511044" cy="4949963"/>
          </a:xfrm>
        </p:grpSpPr>
        <p:sp>
          <p:nvSpPr>
            <p:cNvPr id="203" name="Rectangle 202">
              <a:extLst>
                <a:ext uri="{FF2B5EF4-FFF2-40B4-BE49-F238E27FC236}">
                  <a16:creationId xmlns:a16="http://schemas.microsoft.com/office/drawing/2014/main" id="{B2B184BE-7146-4F19-9652-4EA37AB8C45F}"/>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204" name="Rectangle 203">
              <a:extLst>
                <a:ext uri="{FF2B5EF4-FFF2-40B4-BE49-F238E27FC236}">
                  <a16:creationId xmlns:a16="http://schemas.microsoft.com/office/drawing/2014/main" id="{BD83ACB2-0ADB-4B4A-A133-3C78A2D1A357}"/>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205" name="Rectangle 204">
              <a:extLst>
                <a:ext uri="{FF2B5EF4-FFF2-40B4-BE49-F238E27FC236}">
                  <a16:creationId xmlns:a16="http://schemas.microsoft.com/office/drawing/2014/main" id="{E115F98C-9363-494C-90EE-09732630CC91}"/>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206" name="Rectangle 205">
              <a:extLst>
                <a:ext uri="{FF2B5EF4-FFF2-40B4-BE49-F238E27FC236}">
                  <a16:creationId xmlns:a16="http://schemas.microsoft.com/office/drawing/2014/main" id="{55511BD2-3ECA-44E5-90FF-BC1F2D6D4067}"/>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207" name="Rectangle 206">
              <a:extLst>
                <a:ext uri="{FF2B5EF4-FFF2-40B4-BE49-F238E27FC236}">
                  <a16:creationId xmlns:a16="http://schemas.microsoft.com/office/drawing/2014/main" id="{5147D3FB-DFBD-45A9-A889-D9A71E784705}"/>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208" name="Rectangle 207">
              <a:extLst>
                <a:ext uri="{FF2B5EF4-FFF2-40B4-BE49-F238E27FC236}">
                  <a16:creationId xmlns:a16="http://schemas.microsoft.com/office/drawing/2014/main" id="{0C9FC0A7-7EF6-4D37-B2FA-0BB277767550}"/>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209" name="Rectangle 208">
              <a:extLst>
                <a:ext uri="{FF2B5EF4-FFF2-40B4-BE49-F238E27FC236}">
                  <a16:creationId xmlns:a16="http://schemas.microsoft.com/office/drawing/2014/main" id="{D040D42C-95C6-4601-90FB-140E93E563A2}"/>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210" name="Rectangle 209">
              <a:extLst>
                <a:ext uri="{FF2B5EF4-FFF2-40B4-BE49-F238E27FC236}">
                  <a16:creationId xmlns:a16="http://schemas.microsoft.com/office/drawing/2014/main" id="{62352A12-D72F-4B3C-AE3C-233F82BD189C}"/>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211" name="Rectangle 210">
              <a:extLst>
                <a:ext uri="{FF2B5EF4-FFF2-40B4-BE49-F238E27FC236}">
                  <a16:creationId xmlns:a16="http://schemas.microsoft.com/office/drawing/2014/main" id="{646854D2-4BBD-4963-BA59-D216DA7D6641}"/>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212" name="Rectangle 211">
              <a:extLst>
                <a:ext uri="{FF2B5EF4-FFF2-40B4-BE49-F238E27FC236}">
                  <a16:creationId xmlns:a16="http://schemas.microsoft.com/office/drawing/2014/main" id="{0F380EFF-FF47-4A8B-8F3D-67C74744CEC4}"/>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213" name="Rectangle 212">
              <a:extLst>
                <a:ext uri="{FF2B5EF4-FFF2-40B4-BE49-F238E27FC236}">
                  <a16:creationId xmlns:a16="http://schemas.microsoft.com/office/drawing/2014/main" id="{CF55AEBB-4B2F-4282-BA9F-A3992129D287}"/>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214" name="Rectangle 213">
              <a:extLst>
                <a:ext uri="{FF2B5EF4-FFF2-40B4-BE49-F238E27FC236}">
                  <a16:creationId xmlns:a16="http://schemas.microsoft.com/office/drawing/2014/main" id="{8ADB905D-DC5E-4286-97D2-8BFF7F539D32}"/>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215" name="Rectangle 214">
              <a:extLst>
                <a:ext uri="{FF2B5EF4-FFF2-40B4-BE49-F238E27FC236}">
                  <a16:creationId xmlns:a16="http://schemas.microsoft.com/office/drawing/2014/main" id="{AFCFE24F-CBA7-4342-8E0E-A7568580DD9E}"/>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216" name="Rectangle 215">
              <a:extLst>
                <a:ext uri="{FF2B5EF4-FFF2-40B4-BE49-F238E27FC236}">
                  <a16:creationId xmlns:a16="http://schemas.microsoft.com/office/drawing/2014/main" id="{C3A55D90-B7D1-4112-9325-4D779F9BD239}"/>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217" name="Rectangle 216">
              <a:extLst>
                <a:ext uri="{FF2B5EF4-FFF2-40B4-BE49-F238E27FC236}">
                  <a16:creationId xmlns:a16="http://schemas.microsoft.com/office/drawing/2014/main" id="{0925548E-71C9-486C-883F-1E8FDD216AA3}"/>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spTree>
    <p:extLst>
      <p:ext uri="{BB962C8B-B14F-4D97-AF65-F5344CB8AC3E}">
        <p14:creationId xmlns:p14="http://schemas.microsoft.com/office/powerpoint/2010/main" val="189985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4390DB-1897-4927-9A64-0A8C3238EBF8}"/>
              </a:ext>
            </a:extLst>
          </p:cNvPr>
          <p:cNvSpPr>
            <a:spLocks noGrp="1"/>
          </p:cNvSpPr>
          <p:nvPr>
            <p:ph type="title"/>
          </p:nvPr>
        </p:nvSpPr>
        <p:spPr>
          <a:xfrm>
            <a:off x="1409700" y="319587"/>
            <a:ext cx="9979660" cy="510405"/>
          </a:xfrm>
        </p:spPr>
        <p:txBody>
          <a:bodyPr/>
          <a:lstStyle/>
          <a:p>
            <a:r>
              <a:rPr lang="en-US" dirty="0"/>
              <a:t>TOP &amp; BOTTOM SCORING QUESTIONS</a:t>
            </a:r>
            <a:endParaRPr lang="en-ZA" dirty="0"/>
          </a:p>
        </p:txBody>
      </p:sp>
      <p:graphicFrame>
        <p:nvGraphicFramePr>
          <p:cNvPr id="4" name="Table 8">
            <a:extLst>
              <a:ext uri="{FF2B5EF4-FFF2-40B4-BE49-F238E27FC236}">
                <a16:creationId xmlns:a16="http://schemas.microsoft.com/office/drawing/2014/main" id="{02B07822-EBFA-47E3-8D47-C782EEC3CF83}"/>
              </a:ext>
            </a:extLst>
          </p:cNvPr>
          <p:cNvGraphicFramePr>
            <a:graphicFrameLocks noGrp="1"/>
          </p:cNvGraphicFramePr>
          <p:nvPr>
            <p:extLst>
              <p:ext uri="{D42A27DB-BD31-4B8C-83A1-F6EECF244321}">
                <p14:modId xmlns:p14="http://schemas.microsoft.com/office/powerpoint/2010/main" val="3750451061"/>
              </p:ext>
            </p:extLst>
          </p:nvPr>
        </p:nvGraphicFramePr>
        <p:xfrm>
          <a:off x="479291" y="1574206"/>
          <a:ext cx="12461087" cy="1762824"/>
        </p:xfrm>
        <a:graphic>
          <a:graphicData uri="http://schemas.openxmlformats.org/drawingml/2006/table">
            <a:tbl>
              <a:tblPr firstRow="1" bandRow="1">
                <a:tableStyleId>{9D7B26C5-4107-4FEC-AEDC-1716B250A1EF}</a:tableStyleId>
              </a:tblPr>
              <a:tblGrid>
                <a:gridCol w="572501">
                  <a:extLst>
                    <a:ext uri="{9D8B030D-6E8A-4147-A177-3AD203B41FA5}">
                      <a16:colId xmlns:a16="http://schemas.microsoft.com/office/drawing/2014/main" val="1543085299"/>
                    </a:ext>
                  </a:extLst>
                </a:gridCol>
                <a:gridCol w="8302062">
                  <a:extLst>
                    <a:ext uri="{9D8B030D-6E8A-4147-A177-3AD203B41FA5}">
                      <a16:colId xmlns:a16="http://schemas.microsoft.com/office/drawing/2014/main" val="305275238"/>
                    </a:ext>
                  </a:extLst>
                </a:gridCol>
                <a:gridCol w="2360626">
                  <a:extLst>
                    <a:ext uri="{9D8B030D-6E8A-4147-A177-3AD203B41FA5}">
                      <a16:colId xmlns:a16="http://schemas.microsoft.com/office/drawing/2014/main" val="3674723629"/>
                    </a:ext>
                  </a:extLst>
                </a:gridCol>
                <a:gridCol w="1225898">
                  <a:extLst>
                    <a:ext uri="{9D8B030D-6E8A-4147-A177-3AD203B41FA5}">
                      <a16:colId xmlns:a16="http://schemas.microsoft.com/office/drawing/2014/main" val="3571167003"/>
                    </a:ext>
                  </a:extLst>
                </a:gridCol>
              </a:tblGrid>
              <a:tr h="416460">
                <a:tc>
                  <a:txBody>
                    <a:bodyPr/>
                    <a:lstStyle/>
                    <a:p>
                      <a:pPr algn="ctr"/>
                      <a:r>
                        <a:rPr lang="en-US" sz="1400" b="1" dirty="0">
                          <a:latin typeface="Century Gothic" panose="020B0502020202020204" pitchFamily="34" charset="0"/>
                        </a:rPr>
                        <a:t>#</a:t>
                      </a:r>
                      <a:endParaRPr lang="en-ZA" sz="1400" b="1"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400" dirty="0">
                          <a:latin typeface="Century Gothic" panose="020B0502020202020204" pitchFamily="34" charset="0"/>
                        </a:rPr>
                        <a:t>Top 3 scoring questions</a:t>
                      </a:r>
                      <a:endParaRPr lang="en-ZA" sz="14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300" dirty="0">
                          <a:latin typeface="Century Gothic" panose="020B0502020202020204" pitchFamily="34" charset="0"/>
                        </a:rPr>
                        <a:t>Dimension</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Century Gothic" panose="020B0502020202020204" pitchFamily="34" charset="0"/>
                        </a:rPr>
                        <a:t>Score</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1765041"/>
                  </a:ext>
                </a:extLst>
              </a:tr>
              <a:tr h="513444">
                <a:tc>
                  <a:txBody>
                    <a:bodyPr/>
                    <a:lstStyle/>
                    <a:p>
                      <a:pPr algn="ctr"/>
                      <a:r>
                        <a:rPr lang="en-US" sz="1200" b="1" dirty="0">
                          <a:latin typeface="Century Gothic" panose="020B0502020202020204" pitchFamily="34" charset="0"/>
                        </a:rPr>
                        <a:t>1</a:t>
                      </a:r>
                      <a:endParaRPr lang="en-ZA" sz="1200" b="1"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 have heard about the Old Mutual Group Operating model changes, which includes the establishment of channel-led, end-to-end business clusters, such as the Life and Savings Cluster.</a:t>
                      </a:r>
                      <a:endParaRPr lang="en-ZA" sz="1200"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4.85 </a:t>
                      </a:r>
                      <a:r>
                        <a:rPr lang="en-ZA" sz="1100" b="0" dirty="0">
                          <a:solidFill>
                            <a:schemeClr val="bg1">
                              <a:lumMod val="65000"/>
                            </a:schemeClr>
                          </a:solidFill>
                          <a:latin typeface="Century Gothic" panose="020B0502020202020204" pitchFamily="34" charset="0"/>
                        </a:rPr>
                        <a:t>out of 5</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460255237"/>
                  </a:ext>
                </a:extLst>
              </a:tr>
              <a:tr h="416460">
                <a:tc>
                  <a:txBody>
                    <a:bodyPr/>
                    <a:lstStyle/>
                    <a:p>
                      <a:pPr algn="ctr"/>
                      <a:r>
                        <a:rPr lang="en-US" sz="1200" b="1" dirty="0">
                          <a:latin typeface="Century Gothic" panose="020B0502020202020204" pitchFamily="34" charset="0"/>
                        </a:rPr>
                        <a:t>2</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US" sz="1200" dirty="0">
                          <a:latin typeface="Century Gothic" panose="020B0502020202020204" pitchFamily="34" charset="0"/>
                        </a:rPr>
                        <a:t>I am aware of the basic scope of what is changing.</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pPr algn="ctr"/>
                      <a:r>
                        <a:rPr lang="en-ZA" sz="1200" b="1" dirty="0">
                          <a:latin typeface="Century Gothic" panose="020B0502020202020204" pitchFamily="34" charset="0"/>
                        </a:rPr>
                        <a:t>4.48 </a:t>
                      </a:r>
                      <a:r>
                        <a:rPr lang="en-ZA" sz="1100" b="0" dirty="0">
                          <a:solidFill>
                            <a:schemeClr val="bg1">
                              <a:lumMod val="65000"/>
                            </a:schemeClr>
                          </a:solidFill>
                          <a:latin typeface="Century Gothic" panose="020B0502020202020204" pitchFamily="34" charset="0"/>
                        </a:rPr>
                        <a:t>out of 5</a:t>
                      </a:r>
                      <a:endParaRPr lang="en-ZA" sz="11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76274172"/>
                  </a:ext>
                </a:extLst>
              </a:tr>
              <a:tr h="416460">
                <a:tc>
                  <a:txBody>
                    <a:bodyPr/>
                    <a:lstStyle/>
                    <a:p>
                      <a:pPr algn="ctr"/>
                      <a:r>
                        <a:rPr lang="en-US" sz="1200" b="1" dirty="0">
                          <a:latin typeface="Century Gothic" panose="020B0502020202020204" pitchFamily="34" charset="0"/>
                        </a:rPr>
                        <a:t>3</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 understand why the change is occurring and how it is aligned to the broader Old Mutual goals.</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3.96 </a:t>
                      </a:r>
                      <a:r>
                        <a:rPr lang="en-ZA" sz="1100" b="0" dirty="0">
                          <a:solidFill>
                            <a:schemeClr val="bg1">
                              <a:lumMod val="65000"/>
                            </a:schemeClr>
                          </a:solidFill>
                          <a:latin typeface="Century Gothic" panose="020B0502020202020204" pitchFamily="34" charset="0"/>
                        </a:rPr>
                        <a:t>out of 5</a:t>
                      </a:r>
                      <a:endParaRPr lang="en-ZA" sz="11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232728230"/>
                  </a:ext>
                </a:extLst>
              </a:tr>
            </a:tbl>
          </a:graphicData>
        </a:graphic>
      </p:graphicFrame>
      <p:graphicFrame>
        <p:nvGraphicFramePr>
          <p:cNvPr id="5" name="Table 8">
            <a:extLst>
              <a:ext uri="{FF2B5EF4-FFF2-40B4-BE49-F238E27FC236}">
                <a16:creationId xmlns:a16="http://schemas.microsoft.com/office/drawing/2014/main" id="{9D54E6B5-78C8-4901-9B1F-959F660BCAEC}"/>
              </a:ext>
            </a:extLst>
          </p:cNvPr>
          <p:cNvGraphicFramePr>
            <a:graphicFrameLocks noGrp="1"/>
          </p:cNvGraphicFramePr>
          <p:nvPr>
            <p:extLst>
              <p:ext uri="{D42A27DB-BD31-4B8C-83A1-F6EECF244321}">
                <p14:modId xmlns:p14="http://schemas.microsoft.com/office/powerpoint/2010/main" val="1981817122"/>
              </p:ext>
            </p:extLst>
          </p:nvPr>
        </p:nvGraphicFramePr>
        <p:xfrm>
          <a:off x="479291" y="3905433"/>
          <a:ext cx="12452617" cy="1762824"/>
        </p:xfrm>
        <a:graphic>
          <a:graphicData uri="http://schemas.openxmlformats.org/drawingml/2006/table">
            <a:tbl>
              <a:tblPr firstRow="1" bandRow="1">
                <a:tableStyleId>{9D7B26C5-4107-4FEC-AEDC-1716B250A1EF}</a:tableStyleId>
              </a:tblPr>
              <a:tblGrid>
                <a:gridCol w="476455">
                  <a:extLst>
                    <a:ext uri="{9D8B030D-6E8A-4147-A177-3AD203B41FA5}">
                      <a16:colId xmlns:a16="http://schemas.microsoft.com/office/drawing/2014/main" val="1543085299"/>
                    </a:ext>
                  </a:extLst>
                </a:gridCol>
                <a:gridCol w="8446855">
                  <a:extLst>
                    <a:ext uri="{9D8B030D-6E8A-4147-A177-3AD203B41FA5}">
                      <a16:colId xmlns:a16="http://schemas.microsoft.com/office/drawing/2014/main" val="305275238"/>
                    </a:ext>
                  </a:extLst>
                </a:gridCol>
                <a:gridCol w="2318344">
                  <a:extLst>
                    <a:ext uri="{9D8B030D-6E8A-4147-A177-3AD203B41FA5}">
                      <a16:colId xmlns:a16="http://schemas.microsoft.com/office/drawing/2014/main" val="3674723629"/>
                    </a:ext>
                  </a:extLst>
                </a:gridCol>
                <a:gridCol w="1210963">
                  <a:extLst>
                    <a:ext uri="{9D8B030D-6E8A-4147-A177-3AD203B41FA5}">
                      <a16:colId xmlns:a16="http://schemas.microsoft.com/office/drawing/2014/main" val="3571167003"/>
                    </a:ext>
                  </a:extLst>
                </a:gridCol>
              </a:tblGrid>
              <a:tr h="416460">
                <a:tc>
                  <a:txBody>
                    <a:bodyPr/>
                    <a:lstStyle/>
                    <a:p>
                      <a:pPr algn="ctr"/>
                      <a:r>
                        <a:rPr lang="en-US" sz="1300" dirty="0">
                          <a:latin typeface="Century Gothic" panose="020B0502020202020204" pitchFamily="34" charset="0"/>
                        </a:rPr>
                        <a:t>#</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400" dirty="0">
                          <a:latin typeface="Century Gothic" panose="020B0502020202020204" pitchFamily="34" charset="0"/>
                        </a:rPr>
                        <a:t>Bottom 3 scoring questions</a:t>
                      </a:r>
                      <a:endParaRPr lang="en-ZA" sz="14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300" dirty="0">
                          <a:latin typeface="Century Gothic" panose="020B0502020202020204" pitchFamily="34" charset="0"/>
                        </a:rPr>
                        <a:t>Dimension</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Century Gothic" panose="020B0502020202020204" pitchFamily="34" charset="0"/>
                        </a:rPr>
                        <a:t>Score</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1765041"/>
                  </a:ext>
                </a:extLst>
              </a:tr>
              <a:tr h="513444">
                <a:tc>
                  <a:txBody>
                    <a:bodyPr/>
                    <a:lstStyle/>
                    <a:p>
                      <a:pPr algn="ctr"/>
                      <a:r>
                        <a:rPr lang="en-US" sz="1200" b="1" dirty="0">
                          <a:latin typeface="Century Gothic" panose="020B0502020202020204" pitchFamily="34" charset="0"/>
                        </a:rPr>
                        <a:t>1</a:t>
                      </a:r>
                      <a:endParaRPr lang="en-ZA" sz="1200" b="1"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 understand the impacts of the change to the organisation and to my functional area.</a:t>
                      </a:r>
                      <a:endParaRPr lang="en-ZA" sz="1200"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2.63 </a:t>
                      </a:r>
                      <a:r>
                        <a:rPr lang="en-ZA" sz="1100" b="0" dirty="0">
                          <a:solidFill>
                            <a:schemeClr val="bg1">
                              <a:lumMod val="65000"/>
                            </a:schemeClr>
                          </a:solidFill>
                          <a:latin typeface="Century Gothic" panose="020B0502020202020204" pitchFamily="34" charset="0"/>
                        </a:rPr>
                        <a:t>out of 5</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460255237"/>
                  </a:ext>
                </a:extLst>
              </a:tr>
              <a:tr h="416460">
                <a:tc>
                  <a:txBody>
                    <a:bodyPr/>
                    <a:lstStyle/>
                    <a:p>
                      <a:pPr algn="ctr"/>
                      <a:r>
                        <a:rPr lang="en-US" sz="1200" b="1" dirty="0">
                          <a:latin typeface="Century Gothic" panose="020B0502020202020204" pitchFamily="34" charset="0"/>
                        </a:rPr>
                        <a:t>2</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US" sz="1200" dirty="0">
                          <a:latin typeface="Century Gothic" panose="020B0502020202020204" pitchFamily="34" charset="0"/>
                        </a:rPr>
                        <a:t>I believe that the change is the right thing to do, and I am motivated to support the change.</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pPr algn="ctr"/>
                      <a:r>
                        <a:rPr lang="en-ZA" sz="1200" b="1" dirty="0">
                          <a:latin typeface="Century Gothic" panose="020B0502020202020204" pitchFamily="34" charset="0"/>
                        </a:rPr>
                        <a:t>3.18</a:t>
                      </a:r>
                      <a:r>
                        <a:rPr lang="en-ZA" sz="1200" b="1" dirty="0">
                          <a:solidFill>
                            <a:schemeClr val="bg1">
                              <a:lumMod val="65000"/>
                            </a:schemeClr>
                          </a:solidFill>
                          <a:latin typeface="Century Gothic" panose="020B0502020202020204" pitchFamily="34" charset="0"/>
                        </a:rPr>
                        <a:t> </a:t>
                      </a:r>
                      <a:r>
                        <a:rPr lang="en-ZA" sz="1100" b="0" dirty="0">
                          <a:solidFill>
                            <a:schemeClr val="bg1">
                              <a:lumMod val="65000"/>
                            </a:schemeClr>
                          </a:solidFill>
                          <a:latin typeface="Century Gothic" panose="020B0502020202020204" pitchFamily="34" charset="0"/>
                        </a:rPr>
                        <a:t>out of 5</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76274172"/>
                  </a:ext>
                </a:extLst>
              </a:tr>
              <a:tr h="416460">
                <a:tc>
                  <a:txBody>
                    <a:bodyPr/>
                    <a:lstStyle/>
                    <a:p>
                      <a:pPr algn="ctr"/>
                      <a:r>
                        <a:rPr lang="en-US" sz="1200" b="1" dirty="0">
                          <a:latin typeface="Century Gothic" panose="020B0502020202020204" pitchFamily="34" charset="0"/>
                        </a:rPr>
                        <a:t>3</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 understand the impacts and benefits of the change for me.</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3.58</a:t>
                      </a:r>
                      <a:r>
                        <a:rPr lang="en-ZA" sz="1200" b="1" dirty="0">
                          <a:solidFill>
                            <a:schemeClr val="bg1">
                              <a:lumMod val="65000"/>
                            </a:schemeClr>
                          </a:solidFill>
                          <a:latin typeface="Century Gothic" panose="020B0502020202020204" pitchFamily="34" charset="0"/>
                        </a:rPr>
                        <a:t> </a:t>
                      </a:r>
                      <a:r>
                        <a:rPr lang="en-ZA" sz="1100" b="0" dirty="0">
                          <a:solidFill>
                            <a:schemeClr val="bg1">
                              <a:lumMod val="65000"/>
                            </a:schemeClr>
                          </a:solidFill>
                          <a:latin typeface="Century Gothic" panose="020B0502020202020204" pitchFamily="34" charset="0"/>
                        </a:rPr>
                        <a:t>out of 5</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232728230"/>
                  </a:ext>
                </a:extLst>
              </a:tr>
            </a:tbl>
          </a:graphicData>
        </a:graphic>
      </p:graphicFrame>
      <p:sp>
        <p:nvSpPr>
          <p:cNvPr id="6" name="Footer Placeholder 5">
            <a:extLst>
              <a:ext uri="{FF2B5EF4-FFF2-40B4-BE49-F238E27FC236}">
                <a16:creationId xmlns:a16="http://schemas.microsoft.com/office/drawing/2014/main" id="{956CE119-9CF1-42E7-80A2-8A58462C7CE1}"/>
              </a:ext>
            </a:extLst>
          </p:cNvPr>
          <p:cNvSpPr>
            <a:spLocks noGrp="1"/>
          </p:cNvSpPr>
          <p:nvPr>
            <p:ph type="ftr" sz="quarter" idx="3"/>
          </p:nvPr>
        </p:nvSpPr>
        <p:spPr/>
        <p:txBody>
          <a:bodyPr/>
          <a:lstStyle/>
          <a:p>
            <a:r>
              <a:rPr lang="en-US"/>
              <a:t>Powered by Pure Survey (Pty) Ltd © 2025. Rights Reserved</a:t>
            </a:r>
            <a:endParaRPr lang="en-ZA" dirty="0"/>
          </a:p>
        </p:txBody>
      </p:sp>
      <p:sp>
        <p:nvSpPr>
          <p:cNvPr id="7" name="Slide Number Placeholder 6">
            <a:extLst>
              <a:ext uri="{FF2B5EF4-FFF2-40B4-BE49-F238E27FC236}">
                <a16:creationId xmlns:a16="http://schemas.microsoft.com/office/drawing/2014/main" id="{E852419A-B5D5-45E9-AC9E-C249D2590C0C}"/>
              </a:ext>
            </a:extLst>
          </p:cNvPr>
          <p:cNvSpPr>
            <a:spLocks noGrp="1"/>
          </p:cNvSpPr>
          <p:nvPr>
            <p:ph type="sldNum" sz="quarter" idx="4"/>
          </p:nvPr>
        </p:nvSpPr>
        <p:spPr/>
        <p:txBody>
          <a:bodyPr/>
          <a:lstStyle/>
          <a:p>
            <a:fld id="{1345FC39-5FD0-4CFC-A4C3-931930B79EEA}" type="slidenum">
              <a:rPr lang="en-ZA" smtClean="0"/>
              <a:pPr/>
              <a:t>8</a:t>
            </a:fld>
            <a:endParaRPr lang="en-ZA" dirty="0"/>
          </a:p>
        </p:txBody>
      </p:sp>
    </p:spTree>
    <p:extLst>
      <p:ext uri="{BB962C8B-B14F-4D97-AF65-F5344CB8AC3E}">
        <p14:creationId xmlns:p14="http://schemas.microsoft.com/office/powerpoint/2010/main" val="1408797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noFill/>
        <a:pattFill/>
        <a:grpFill/>
      </a:fillStyleLst>
      <a:lnStyleLst>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Lst>
      <a:bgFillStyleLst>
        <a:solidFill>
          <a:schemeClr val="phClr"/>
        </a:solidFill>
        <a:gradFill>
          <a:gsLst>
            <a:gs pos="0">
              <a:schemeClr val="phClr">
                <a:tint val="50000"/>
                <a:satMod val="300000"/>
              </a:schemeClr>
            </a:gs>
            <a:gs pos="0">
              <a:schemeClr val="phClr">
                <a:tint val="50000"/>
                <a:satMod val="300000"/>
              </a:schemeClr>
            </a:gs>
            <a:gs pos="0">
              <a:schemeClr val="phClr">
                <a:tint val="50000"/>
                <a:satMod val="300000"/>
              </a:schemeClr>
            </a:gs>
          </a:gsLst>
          <a:lin ang="16200000" scaled="1"/>
        </a:gradFill>
        <a:gradFill>
          <a:gsLst>
            <a:gs pos="0">
              <a:schemeClr val="phClr">
                <a:tint val="50000"/>
                <a:satMod val="300000"/>
              </a:schemeClr>
            </a:gs>
            <a:gs pos="0">
              <a:schemeClr val="phClr">
                <a:tint val="50000"/>
                <a:satMod val="300000"/>
              </a:schemeClr>
            </a:gs>
          </a:gsLst>
          <a:lin ang="16200000" scaled="1"/>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633</TotalTime>
  <Words>832</Words>
  <Application>Microsoft Office PowerPoint</Application>
  <PresentationFormat>Custom</PresentationFormat>
  <Paragraphs>299</Paragraphs>
  <Slides>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Arial</vt:lpstr>
      <vt:lpstr>Calibri</vt:lpstr>
      <vt:lpstr>Calibri Light</vt:lpstr>
      <vt:lpstr>Century Gothic</vt:lpstr>
      <vt:lpstr>Montserrat</vt:lpstr>
      <vt:lpstr>Office Theme</vt:lpstr>
      <vt:lpstr>Custom Design</vt:lpstr>
      <vt:lpstr>PowerPoint Presentation</vt:lpstr>
      <vt:lpstr>PULSE CULTURE SURVEY </vt:lpstr>
      <vt:lpstr>OML CHANGE READINESS SUMMARY SCORES</vt:lpstr>
      <vt:lpstr>2025 PULSE CULTURE SURVEY</vt:lpstr>
      <vt:lpstr>PowerPoint Presentation</vt:lpstr>
      <vt:lpstr>OML CHANGE READINESS SCORE TRENDS</vt:lpstr>
      <vt:lpstr>OML CHANGE READINESS SEGMENT SCORES</vt:lpstr>
      <vt:lpstr>TOP &amp; BOTTOM SCORING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Robby Emerton</dc:creator>
  <cp:lastModifiedBy>Robby Emerton</cp:lastModifiedBy>
  <cp:revision>80</cp:revision>
  <dcterms:modified xsi:type="dcterms:W3CDTF">2025-07-09T09:33:12Z</dcterms:modified>
</cp:coreProperties>
</file>